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pre-specified question" id="{c1bd88dd-9284-503d-42e1-cf7a865e3abf}">
          <p14:sldIdLst>
            <p14:sldId id="256"/>
            <p14:sldId id="257"/>
            <p14:sldId id="258"/>
          </p14:sldIdLst>
        </p14:section>
        <p14:section name="Data, tasks, models and protocol" id="{ee9570dc-0d70-17da-dac9-e986c2c9ed8c}">
          <p14:sldIdLst>
            <p14:sldId id="259"/>
            <p14:sldId id="260"/>
          </p14:sldIdLst>
        </p14:section>
        <p14:section name="How much survives lead reduction" id="{43d6dcce-054c-9d6a-2a66-2068081069eb}">
          <p14:sldIdLst>
            <p14:sldId id="261"/>
            <p14:sldId id="262"/>
            <p14:sldId id="263"/>
          </p14:sldIdLst>
        </p14:section>
        <p14:section name="Can training, data or triage rescue it" id="{884641d7-10d1-9a32-0a4d-2c170d1c775a}">
          <p14:sldIdLst>
            <p14:sldId id="264"/>
            <p14:sldId id="265"/>
            <p14:sldId id="266"/>
          </p14:sldIdLst>
        </p14:section>
        <p14:section name="Takeaways and backup" id="{a65c2f8a-9b25-a6ed-d00a-6f12c9bd18ca}">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asks a simple question: a hospital ECG has twelve leads, a smartwatch has one. How much of a deep model's diagnostic ability survives when we go from twelve leads to one, and which diagnoses could a wearable still screen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Cardiovascular disease is the leading cause of death, about 19.8 million deaths in 2022. The clinical 12-lead ECG gives twelve views of the heart; diagnoses like infarction or hypertrophy rely on that. A smartwatch records only lead I. It works well for rhythm, because rhythm can be read in any lead. For structural and ischaemic diagnoses it is unknown. So the real question is which diagnoses survive the step from twelve leads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three questions. RQ1: which architecture is best on 12 leads, and how big is the gap to classical baselines. RQ2, the core: how much is lost as leads are removed, and which diagnoses can still be screened. RQ3: does it hold for triage, noise, fewer labels and another hospital. Before seeing any reduced-lead result we fixed a screen rule: the AUROC drop must be non-inferior, its confidence-interval lower bound above minus 0.02, and sensitivity must reach 0.80 at 90 percent specificity.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in four panels. a: PTB-XL with the official patient-level folds. b: six lead sets from twelve leads down to lead I, the smartwatch-like lead. c: three architectures with different inductive biases and four training strategies, including our lead-agnostic LA-ResNet. All 102 runs share one recipe and three seeds. d: test metrics, paired bootstrap with Holm correction, and the screen rule that produces the conclusion matrix. Two branches: self-supervised pre-training with ten percent labels, and external validation on 34,815 ECGs from another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21,388 labelled PTB-XL ECGs, six lead sets, 102 training runs with three seeds, and 34,815 external ECGs. Two tasks: five-class multi-label diagnosis and normal-versus-abnormal triage. Three architectures with different inductive biases: a residual CNN for local morphology, a CNN-BiLSTM for beat-to-beat sequence, and a Vision Transformer with global attention. Four strategies: scratch, transfer from the 12-lead model, our LA-ResNet that takes a lead mask so one model handles every lead set, and masked-signal self-supervised pre-training.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12 leads all three models reach about 0.92 macro AUROC, matching the published PTB-XL benchmark, and clearly beat the traditional feature baseline at 0.86. ResNet and CNN-BiLSTM are statistically tied; the Transformer is slightly lower. Six or two leads cost 0.02 to 0.03. The big step is to a single lead: lead I loses 0.09 AUROC, with a confidence interval from 0.08 to 0.10. Every architecture follows the same curve, so the loss comes from the input, not from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hides very different stories per diagnosis. Myocardial infarction suffers most: with lead I its AUROC drops from 0.92 to 0.79. That fits anatomy: inferior infarcts show in II, III and aVF, anterior ones in V1 to V4, which lead I does not see. ST/T changes survive with the six chest leads almost unchanged. Hypertrophy is better preserved by chest leads than by limb leads, consistent with precordial voltage criteria. These are plausible explanations, not something we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result. We apply the pre-specified rule to every diagnosis and lead set. Of 30 cells, 29 are not replaceable. The only one that passes is ST/T change with the six chest leads: the AUROC drop is 0.004 and sensitivity is 0.84. This holds for all five approaches, so it is not an artefact of picking one model. With lead I, nothing passes; myocardial infarction is worst, minus 0.13, with sensitivity 0.45. A stricter or looser margin creates no new screen cell. The rule is demanding: even the 12-lead model reaches only about 0.74 sensitivity for 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training tricks win the loss back? Transfer from the 12-lead model barely moves AUROC, at most 0.002 either way, and nothing is significant after correction. Freezing the backbone is worse. Our LA-ResNet takes the lead mask as input, so one set of weights serves all six lead sets. On 12 leads it is as good as the dedicated model; on reduced sets it pays 0.003 to 0.010, significant for chest 6, lead II and lead I. For a device whose available leads vary, that is an attractive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lead I just short of data? No. Going from 10 to 100 percent of the labels gains only 0.023 on lead I, and a 12-lead model trained on 10 percent of the labels still beats a lead-I model trained on all of them. So the limit is the information in one lead. Self-supervised masked-signal pre-training helps the Transformer when labels are scarce, plus 0.015 on lead I, though it only brings it level with the CNN. And under severe noise the ranking changes: at 0 dB ResNet keeps 0.76 while CNN-BiLSTM drops to 0.69.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is the realistic use for a wearable. With lead I, normal versus abnormal reaches AUROC 0.88, but sensitivity at 90 percent specificity is 0.71, short of a stand-alone screen. We ran the frozen models, without retraining, on 34,815 records from a hospital in China. Discrimination held: 0.955 with 12 leads and 0.916 with lead I. We do not claim better generalisation: the external label set is stricter, and when borderline voltage-only findings count as abnormal the values fall back to the internal level. Thresholds also shifted, so deployment would need local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twelve to one is too far for diagnosis. First, judged by a rule fixed in advance rather than an average, 29 of 30 cells fail and only ST/T change with chest leads passes. Second, one lead-agnostic model serves six lead sets at a small cost. Third, the bottleneck is information: transfer and ten times more labels barely help lead I. Limitations: our lead I comes from clinical recordings, we trained on one dataset at 100 Hz, and the noise was synthetic. Next we would test paired watch and 12-lead recordings. A single lead can support triage, but cannot replace the 12-lead ECG.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interpretability questions. Grad-CAM of the ResNet is broad because its receptive field is longer than the whole recording, so it shows regions rather than single waves. The Transformer's last-block attention has a strong stripe on one token, which looks like an attention sink. We present these only as illustrations, not clinical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with short answers to the questions we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Deep Learning for Biomedical Science  ·  Group Project</a:t>
            </a:r>
            <a:endParaRPr lang="en-US" sz="1200" dirty="0"/>
          </a:p>
        </p:txBody>
      </p:sp>
      <p:sp>
        <p:nvSpPr>
          <p:cNvPr id="3" name="Text 1"/>
          <p:cNvSpPr txBox="1"/>
          <p:nvPr/>
        </p:nvSpPr>
        <p:spPr>
          <a:xfrm>
            <a:off x="812800" y="2095500"/>
            <a:ext cx="10566400" cy="825500"/>
          </a:xfrm>
          <a:prstGeom prst="rect">
            <a:avLst/>
          </a:prstGeom>
          <a:noFill/>
          <a:ln/>
        </p:spPr>
        <p:txBody>
          <a:bodyPr wrap="square" lIns="0" tIns="0" rIns="0" bIns="0" rtlCol="0" anchor="t"/>
          <a:lstStyle/>
          <a:p>
            <a:pPr indent="0" marL="0">
              <a:buNone/>
            </a:pPr>
            <a:r>
              <a:rPr lang="en-US" sz="5200" b="1" dirty="0">
                <a:solidFill>
                  <a:srgbClr val="1F3A5F"/>
                </a:solidFill>
                <a:latin typeface="Cambria" pitchFamily="34" charset="0"/>
                <a:ea typeface="Cambria" pitchFamily="34" charset="-122"/>
                <a:cs typeface="Cambria" pitchFamily="34" charset="-120"/>
              </a:rPr>
              <a:t>Twelve to One</a:t>
            </a:r>
            <a:endParaRPr lang="en-US" sz="5200" dirty="0"/>
          </a:p>
        </p:txBody>
      </p:sp>
      <p:sp>
        <p:nvSpPr>
          <p:cNvPr id="4" name="Text 2"/>
          <p:cNvSpPr txBox="1"/>
          <p:nvPr/>
        </p:nvSpPr>
        <p:spPr>
          <a:xfrm>
            <a:off x="812800" y="3016250"/>
            <a:ext cx="9525000" cy="762000"/>
          </a:xfrm>
          <a:prstGeom prst="rect">
            <a:avLst/>
          </a:prstGeom>
          <a:noFill/>
          <a:ln/>
        </p:spPr>
        <p:txBody>
          <a:bodyPr wrap="square" lIns="0" tIns="0" rIns="0" bIns="0" rtlCol="0" anchor="t"/>
          <a:lstStyle/>
          <a:p>
            <a:pPr indent="0" marL="0">
              <a:buNone/>
            </a:pPr>
            <a:r>
              <a:rPr lang="en-US" sz="2000" i="1" dirty="0">
                <a:solidFill>
                  <a:srgbClr val="1F3A5F"/>
                </a:solidFill>
                <a:latin typeface="Cambria" pitchFamily="34" charset="0"/>
                <a:ea typeface="Cambria" pitchFamily="34" charset="-122"/>
                <a:cs typeface="Cambria" pitchFamily="34" charset="-120"/>
              </a:rPr>
              <a:t>Lead-robust deep learning for multi-label ECG diagnosis and wearable triage on PTB-XL</a:t>
            </a:r>
            <a:endParaRPr lang="en-US" sz="2000" dirty="0"/>
          </a:p>
        </p:txBody>
      </p:sp>
      <p:sp>
        <p:nvSpPr>
          <p:cNvPr id="5" name="Text 3"/>
          <p:cNvSpPr txBox="1"/>
          <p:nvPr/>
        </p:nvSpPr>
        <p:spPr>
          <a:xfrm>
            <a:off x="812800" y="3905250"/>
            <a:ext cx="9525000" cy="571500"/>
          </a:xfrm>
          <a:prstGeom prst="rect">
            <a:avLst/>
          </a:prstGeom>
          <a:noFill/>
          <a:ln/>
        </p:spPr>
        <p:txBody>
          <a:bodyPr wrap="square" lIns="0" tIns="0" rIns="0" bIns="0" rtlCol="0" anchor="t"/>
          <a:lstStyle/>
          <a:p>
            <a:pPr indent="0" marL="0">
              <a:buNone/>
            </a:pPr>
            <a:r>
              <a:rPr lang="en-US" sz="1400" dirty="0">
                <a:solidFill>
                  <a:srgbClr val="5B6675"/>
                </a:solidFill>
                <a:latin typeface="Calibri" pitchFamily="34" charset="0"/>
                <a:ea typeface="Calibri" pitchFamily="34" charset="-122"/>
                <a:cs typeface="Calibri" pitchFamily="34" charset="-120"/>
              </a:rPr>
              <a:t>PTB-XL v1.0.3 · 21,388 ECGs · 6 lead sets · 3 architectures · 4 training strategies · external validation on 34,815 ECGs</a:t>
            </a:r>
            <a:endParaRPr lang="en-US" sz="1400" dirty="0"/>
          </a:p>
        </p:txBody>
      </p:sp>
      <p:sp>
        <p:nvSpPr>
          <p:cNvPr id="6" name="Text 4"/>
          <p:cNvSpPr txBox="1"/>
          <p:nvPr/>
        </p:nvSpPr>
        <p:spPr>
          <a:xfrm>
            <a:off x="812800" y="5207000"/>
            <a:ext cx="635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Presented by</a:t>
            </a:r>
            <a:endParaRPr lang="en-US" sz="1200" dirty="0"/>
          </a:p>
        </p:txBody>
      </p:sp>
      <p:sp>
        <p:nvSpPr>
          <p:cNvPr id="7" name="Text 5"/>
          <p:cNvSpPr txBox="1"/>
          <p:nvPr/>
        </p:nvSpPr>
        <p:spPr>
          <a:xfrm>
            <a:off x="812800" y="5448300"/>
            <a:ext cx="8890000" cy="2667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[Author names, Matric No.]</a:t>
            </a:r>
            <a:endParaRPr lang="en-US" sz="1400" dirty="0"/>
          </a:p>
        </p:txBody>
      </p:sp>
      <p:sp>
        <p:nvSpPr>
          <p:cNvPr id="8" name="Text 6"/>
          <p:cNvSpPr txBox="1"/>
          <p:nvPr/>
        </p:nvSpPr>
        <p:spPr>
          <a:xfrm>
            <a:off x="812800" y="57531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BS6204 · Nanyang Technological University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PROBLEM &amp; MOTIVATION</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Diagnosis needs 12 leads; a smartwatch has one</a:t>
            </a:r>
            <a:endParaRPr lang="en-US" sz="2800" dirty="0"/>
          </a:p>
        </p:txBody>
      </p:sp>
      <p:sp>
        <p:nvSpPr>
          <p:cNvPr id="4" name="Text 2"/>
          <p:cNvSpPr txBox="1"/>
          <p:nvPr/>
        </p:nvSpPr>
        <p:spPr>
          <a:xfrm>
            <a:off x="812800" y="1587500"/>
            <a:ext cx="6286500" cy="292100"/>
          </a:xfrm>
          <a:prstGeom prst="rect">
            <a:avLst/>
          </a:prstGeom>
          <a:noFill/>
          <a:ln/>
        </p:spPr>
        <p:txBody>
          <a:bodyPr wrap="square" lIns="0" tIns="0" rIns="0" bIns="0" rtlCol="0" anchor="t"/>
          <a:lstStyle/>
          <a:p>
            <a:pPr indent="0" marL="0">
              <a:buNone/>
            </a:pPr>
            <a:r>
              <a:rPr lang="en-US" sz="1600" b="1" dirty="0">
                <a:solidFill>
                  <a:srgbClr val="1F3A5F"/>
                </a:solidFill>
                <a:latin typeface="Cambria" pitchFamily="34" charset="0"/>
                <a:ea typeface="Cambria" pitchFamily="34" charset="-122"/>
                <a:cs typeface="Cambria" pitchFamily="34" charset="-120"/>
              </a:rPr>
              <a:t>Where the ECG sits</a:t>
            </a:r>
            <a:endParaRPr lang="en-US" sz="1600" dirty="0"/>
          </a:p>
        </p:txBody>
      </p:sp>
      <p:sp>
        <p:nvSpPr>
          <p:cNvPr id="5" name="Shape 3"/>
          <p:cNvSpPr/>
          <p:nvPr/>
        </p:nvSpPr>
        <p:spPr>
          <a:xfrm>
            <a:off x="812800" y="2032000"/>
            <a:ext cx="330200" cy="330200"/>
          </a:xfrm>
          <a:prstGeom prst="ellipse">
            <a:avLst/>
          </a:prstGeom>
          <a:solidFill>
            <a:srgbClr val="1F3A5F"/>
          </a:solidFill>
          <a:ln/>
        </p:spPr>
      </p:sp>
      <p:sp>
        <p:nvSpPr>
          <p:cNvPr id="6" name="Text 4"/>
          <p:cNvSpPr txBox="1"/>
          <p:nvPr/>
        </p:nvSpPr>
        <p:spPr>
          <a:xfrm>
            <a:off x="812800" y="20320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95400" y="2044700"/>
            <a:ext cx="58039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Clinic: 12 leads</a:t>
            </a:r>
            <a:endParaRPr lang="en-US" sz="1400" dirty="0"/>
          </a:p>
        </p:txBody>
      </p:sp>
      <p:sp>
        <p:nvSpPr>
          <p:cNvPr id="8" name="Text 6"/>
          <p:cNvSpPr txBox="1"/>
          <p:nvPr/>
        </p:nvSpPr>
        <p:spPr>
          <a:xfrm>
            <a:off x="1295400" y="2311400"/>
            <a:ext cx="5803900" cy="508000"/>
          </a:xfrm>
          <a:prstGeom prst="rect">
            <a:avLst/>
          </a:prstGeom>
          <a:noFill/>
          <a:ln/>
        </p:spPr>
        <p:txBody>
          <a:bodyPr wrap="square" lIns="0" tIns="0" rIns="0" bIns="0" rtlCol="0" anchor="t"/>
          <a:lstStyle/>
          <a:p>
            <a:pPr indent="0" marL="0">
              <a:lnSpc>
                <a:spcPct val="105000"/>
              </a:lnSpc>
              <a:buNone/>
            </a:pPr>
            <a:r>
              <a:rPr lang="en-US" sz="1300" dirty="0">
                <a:solidFill>
                  <a:srgbClr val="5B6675"/>
                </a:solidFill>
                <a:latin typeface="Calibri" pitchFamily="34" charset="0"/>
                <a:ea typeface="Calibri" pitchFamily="34" charset="-122"/>
                <a:cs typeface="Calibri" pitchFamily="34" charset="-120"/>
              </a:rPr>
              <a:t>twelve views of the heart; the basis for infarction, ST/T change, conduction block, hypertrophy</a:t>
            </a:r>
            <a:endParaRPr lang="en-US" sz="1300" dirty="0"/>
          </a:p>
        </p:txBody>
      </p:sp>
      <p:sp>
        <p:nvSpPr>
          <p:cNvPr id="9" name="Shape 7"/>
          <p:cNvSpPr/>
          <p:nvPr/>
        </p:nvSpPr>
        <p:spPr>
          <a:xfrm>
            <a:off x="812800" y="3111500"/>
            <a:ext cx="330200" cy="330200"/>
          </a:xfrm>
          <a:prstGeom prst="ellipse">
            <a:avLst/>
          </a:prstGeom>
          <a:solidFill>
            <a:srgbClr val="2F6F73"/>
          </a:solidFill>
          <a:ln/>
        </p:spPr>
      </p:sp>
      <p:sp>
        <p:nvSpPr>
          <p:cNvPr id="10" name="Text 8"/>
          <p:cNvSpPr txBox="1"/>
          <p:nvPr/>
        </p:nvSpPr>
        <p:spPr>
          <a:xfrm>
            <a:off x="812800" y="31115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295400" y="3124200"/>
            <a:ext cx="58039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Wrist: lead I only</a:t>
            </a:r>
            <a:endParaRPr lang="en-US" sz="1400" dirty="0"/>
          </a:p>
        </p:txBody>
      </p:sp>
      <p:sp>
        <p:nvSpPr>
          <p:cNvPr id="12" name="Text 10"/>
          <p:cNvSpPr txBox="1"/>
          <p:nvPr/>
        </p:nvSpPr>
        <p:spPr>
          <a:xfrm>
            <a:off x="1295400" y="3390900"/>
            <a:ext cx="5803900" cy="508000"/>
          </a:xfrm>
          <a:prstGeom prst="rect">
            <a:avLst/>
          </a:prstGeom>
          <a:noFill/>
          <a:ln/>
        </p:spPr>
        <p:txBody>
          <a:bodyPr wrap="square" lIns="0" tIns="0" rIns="0" bIns="0" rtlCol="0" anchor="t"/>
          <a:lstStyle/>
          <a:p>
            <a:pPr indent="0" marL="0">
              <a:lnSpc>
                <a:spcPct val="105000"/>
              </a:lnSpc>
              <a:buNone/>
            </a:pPr>
            <a:r>
              <a:rPr lang="en-US" sz="1300" dirty="0">
                <a:solidFill>
                  <a:srgbClr val="5B6675"/>
                </a:solidFill>
                <a:latin typeface="Calibri" pitchFamily="34" charset="0"/>
                <a:ea typeface="Calibri" pitchFamily="34" charset="-122"/>
                <a:cs typeface="Calibri" pitchFamily="34" charset="-120"/>
              </a:rPr>
              <a:t>proven for rhythm such as atrial fibrillation, which can be read in any lead</a:t>
            </a:r>
            <a:endParaRPr lang="en-US" sz="1300" dirty="0"/>
          </a:p>
        </p:txBody>
      </p:sp>
      <p:sp>
        <p:nvSpPr>
          <p:cNvPr id="13" name="Shape 11"/>
          <p:cNvSpPr/>
          <p:nvPr/>
        </p:nvSpPr>
        <p:spPr>
          <a:xfrm>
            <a:off x="812800" y="4191000"/>
            <a:ext cx="330200" cy="330200"/>
          </a:xfrm>
          <a:prstGeom prst="ellipse">
            <a:avLst/>
          </a:prstGeom>
          <a:solidFill>
            <a:srgbClr val="A23B2A"/>
          </a:solidFill>
          <a:ln/>
        </p:spPr>
      </p:sp>
      <p:sp>
        <p:nvSpPr>
          <p:cNvPr id="14" name="Text 12"/>
          <p:cNvSpPr txBox="1"/>
          <p:nvPr/>
        </p:nvSpPr>
        <p:spPr>
          <a:xfrm>
            <a:off x="812800" y="41910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295400" y="4203700"/>
            <a:ext cx="58039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The gap</a:t>
            </a:r>
            <a:endParaRPr lang="en-US" sz="1400" dirty="0"/>
          </a:p>
        </p:txBody>
      </p:sp>
      <p:sp>
        <p:nvSpPr>
          <p:cNvPr id="16" name="Text 14"/>
          <p:cNvSpPr txBox="1"/>
          <p:nvPr/>
        </p:nvSpPr>
        <p:spPr>
          <a:xfrm>
            <a:off x="1295400" y="4470400"/>
            <a:ext cx="5803900" cy="508000"/>
          </a:xfrm>
          <a:prstGeom prst="rect">
            <a:avLst/>
          </a:prstGeom>
          <a:noFill/>
          <a:ln/>
        </p:spPr>
        <p:txBody>
          <a:bodyPr wrap="square" lIns="0" tIns="0" rIns="0" bIns="0" rtlCol="0" anchor="t"/>
          <a:lstStyle/>
          <a:p>
            <a:pPr indent="0" marL="0">
              <a:lnSpc>
                <a:spcPct val="105000"/>
              </a:lnSpc>
              <a:buNone/>
            </a:pPr>
            <a:r>
              <a:rPr lang="en-US" sz="1300" dirty="0">
                <a:solidFill>
                  <a:srgbClr val="5B6675"/>
                </a:solidFill>
                <a:latin typeface="Calibri" pitchFamily="34" charset="0"/>
                <a:ea typeface="Calibri" pitchFamily="34" charset="-122"/>
                <a:cs typeface="Calibri" pitchFamily="34" charset="-120"/>
              </a:rPr>
              <a:t>structural and ischaemic diagnoses depend on spatial information a single lead may not carry</a:t>
            </a:r>
            <a:endParaRPr lang="en-US" sz="1300" dirty="0"/>
          </a:p>
        </p:txBody>
      </p:sp>
      <p:sp>
        <p:nvSpPr>
          <p:cNvPr id="17" name="Shape 15"/>
          <p:cNvSpPr/>
          <p:nvPr/>
        </p:nvSpPr>
        <p:spPr>
          <a:xfrm>
            <a:off x="7442200" y="1587500"/>
            <a:ext cx="3937000" cy="3683000"/>
          </a:xfrm>
          <a:prstGeom prst="rect">
            <a:avLst/>
          </a:prstGeom>
          <a:solidFill>
            <a:srgbClr val="F4F5F7"/>
          </a:solidFill>
          <a:ln/>
        </p:spPr>
      </p:sp>
      <p:sp>
        <p:nvSpPr>
          <p:cNvPr id="18" name="Text 16"/>
          <p:cNvSpPr txBox="1"/>
          <p:nvPr/>
        </p:nvSpPr>
        <p:spPr>
          <a:xfrm>
            <a:off x="7721600" y="1841500"/>
            <a:ext cx="3429000" cy="292100"/>
          </a:xfrm>
          <a:prstGeom prst="rect">
            <a:avLst/>
          </a:prstGeom>
          <a:noFill/>
          <a:ln/>
        </p:spPr>
        <p:txBody>
          <a:bodyPr wrap="square" lIns="0" tIns="0" rIns="0" bIns="0" rtlCol="0" anchor="t"/>
          <a:lstStyle/>
          <a:p>
            <a:pPr indent="0" marL="0">
              <a:buNone/>
            </a:pPr>
            <a:r>
              <a:rPr lang="en-US" sz="1600" b="1" dirty="0">
                <a:solidFill>
                  <a:srgbClr val="1F3A5F"/>
                </a:solidFill>
                <a:latin typeface="Cambria" pitchFamily="34" charset="0"/>
                <a:ea typeface="Cambria" pitchFamily="34" charset="-122"/>
                <a:cs typeface="Cambria" pitchFamily="34" charset="-120"/>
              </a:rPr>
              <a:t>Why it matters</a:t>
            </a:r>
            <a:endParaRPr lang="en-US" sz="1600" dirty="0"/>
          </a:p>
        </p:txBody>
      </p:sp>
      <p:sp>
        <p:nvSpPr>
          <p:cNvPr id="19" name="Text 17"/>
          <p:cNvSpPr txBox="1"/>
          <p:nvPr/>
        </p:nvSpPr>
        <p:spPr>
          <a:xfrm>
            <a:off x="7721600" y="2235200"/>
            <a:ext cx="3429000" cy="609600"/>
          </a:xfrm>
          <a:prstGeom prst="rect">
            <a:avLst/>
          </a:prstGeom>
          <a:noFill/>
          <a:ln/>
        </p:spPr>
        <p:txBody>
          <a:bodyPr wrap="square" lIns="0" tIns="0" rIns="0" bIns="0" rtlCol="0" anchor="t"/>
          <a:lstStyle/>
          <a:p>
            <a:pPr indent="0" marL="0">
              <a:buNone/>
            </a:pPr>
            <a:r>
              <a:rPr lang="en-US" sz="4000" b="1" dirty="0">
                <a:solidFill>
                  <a:srgbClr val="A23B2A"/>
                </a:solidFill>
                <a:latin typeface="Cambria" pitchFamily="34" charset="0"/>
                <a:ea typeface="Cambria" pitchFamily="34" charset="-122"/>
                <a:cs typeface="Cambria" pitchFamily="34" charset="-120"/>
              </a:rPr>
              <a:t>19.8 M</a:t>
            </a:r>
            <a:endParaRPr lang="en-US" sz="4000" dirty="0"/>
          </a:p>
        </p:txBody>
      </p:sp>
      <p:sp>
        <p:nvSpPr>
          <p:cNvPr id="20" name="Text 18"/>
          <p:cNvSpPr txBox="1"/>
          <p:nvPr/>
        </p:nvSpPr>
        <p:spPr>
          <a:xfrm>
            <a:off x="7721600" y="2984500"/>
            <a:ext cx="3429000" cy="635000"/>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deaths from cardiovascular disease in 2022, about 32% of all deaths [1]</a:t>
            </a:r>
            <a:endParaRPr lang="en-US" sz="1300" dirty="0"/>
          </a:p>
        </p:txBody>
      </p:sp>
      <p:sp>
        <p:nvSpPr>
          <p:cNvPr id="21" name="Text 19"/>
          <p:cNvSpPr txBox="1"/>
          <p:nvPr/>
        </p:nvSpPr>
        <p:spPr>
          <a:xfrm>
            <a:off x="7721600" y="3810000"/>
            <a:ext cx="3429000" cy="95250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A wearable that could screen would decide who needs a 12-lead ECG; one that cannot gives false reassurance.</a:t>
            </a:r>
            <a:endParaRPr lang="en-US" sz="1300" dirty="0"/>
          </a:p>
        </p:txBody>
      </p:sp>
      <p:sp>
        <p:nvSpPr>
          <p:cNvPr id="22" name="Shape 20"/>
          <p:cNvSpPr/>
          <p:nvPr/>
        </p:nvSpPr>
        <p:spPr>
          <a:xfrm>
            <a:off x="812800" y="5473700"/>
            <a:ext cx="10566400" cy="533400"/>
          </a:xfrm>
          <a:prstGeom prst="rect">
            <a:avLst/>
          </a:prstGeom>
          <a:solidFill>
            <a:srgbClr val="F4F5F7"/>
          </a:solidFill>
          <a:ln/>
        </p:spPr>
      </p:sp>
      <p:sp>
        <p:nvSpPr>
          <p:cNvPr id="23" name="Text 21"/>
          <p:cNvSpPr txBox="1"/>
          <p:nvPr/>
        </p:nvSpPr>
        <p:spPr>
          <a:xfrm>
            <a:off x="1016000" y="5473700"/>
            <a:ext cx="10160000" cy="53340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Key point.  </a:t>
            </a:r>
            <a:pPr indent="0" marL="0">
              <a:buNone/>
            </a:pPr>
            <a:r>
              <a:rPr lang="en-US" sz="1300" dirty="0">
                <a:solidFill>
                  <a:srgbClr val="1F2A37"/>
                </a:solidFill>
                <a:latin typeface="Calibri" pitchFamily="34" charset="0"/>
                <a:ea typeface="Calibri" pitchFamily="34" charset="-122"/>
                <a:cs typeface="Calibri" pitchFamily="34" charset="-120"/>
              </a:rPr>
              <a:t>The question is not how accurate lead I is on average, but which diagnoses survive the step from twelve leads to one.</a:t>
            </a:r>
            <a:endParaRPr lang="en-US" sz="1300" dirty="0"/>
          </a:p>
        </p:txBody>
      </p:sp>
      <p:sp>
        <p:nvSpPr>
          <p:cNvPr id="24" name="Text 22"/>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[1] WHO, Cardiovascular diseases fact sheet (2025)</a:t>
            </a:r>
            <a:endParaRPr lang="en-US" sz="1200" dirty="0"/>
          </a:p>
        </p:txBody>
      </p:sp>
      <p:sp>
        <p:nvSpPr>
          <p:cNvPr id="25" name="Text 23"/>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RESEARCH QUESTIONS</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Three questions and one rule fixed in advance</a:t>
            </a:r>
            <a:endParaRPr lang="en-US" sz="2800" dirty="0"/>
          </a:p>
        </p:txBody>
      </p:sp>
      <p:sp>
        <p:nvSpPr>
          <p:cNvPr id="4" name="Shape 2"/>
          <p:cNvSpPr/>
          <p:nvPr/>
        </p:nvSpPr>
        <p:spPr>
          <a:xfrm>
            <a:off x="812800" y="1587500"/>
            <a:ext cx="2362200" cy="3683000"/>
          </a:xfrm>
          <a:prstGeom prst="rect">
            <a:avLst/>
          </a:prstGeom>
          <a:solidFill>
            <a:srgbClr val="F4F5F7"/>
          </a:solidFill>
          <a:ln/>
        </p:spPr>
      </p:sp>
      <p:sp>
        <p:nvSpPr>
          <p:cNvPr id="5" name="Text 3"/>
          <p:cNvSpPr txBox="1"/>
          <p:nvPr/>
        </p:nvSpPr>
        <p:spPr>
          <a:xfrm>
            <a:off x="1066800" y="1841500"/>
            <a:ext cx="1854200" cy="355600"/>
          </a:xfrm>
          <a:prstGeom prst="rect">
            <a:avLst/>
          </a:prstGeom>
          <a:noFill/>
          <a:ln/>
        </p:spPr>
        <p:txBody>
          <a:bodyPr wrap="square" lIns="0" tIns="0" rIns="0" bIns="0" rtlCol="0" anchor="t"/>
          <a:lstStyle/>
          <a:p>
            <a:pPr indent="0" marL="0">
              <a:buNone/>
            </a:pPr>
            <a:r>
              <a:rPr lang="en-US" sz="2000" b="1" dirty="0">
                <a:solidFill>
                  <a:srgbClr val="1F3A5F"/>
                </a:solidFill>
                <a:latin typeface="Cambria" pitchFamily="34" charset="0"/>
                <a:ea typeface="Cambria" pitchFamily="34" charset="-122"/>
                <a:cs typeface="Cambria" pitchFamily="34" charset="-120"/>
              </a:rPr>
              <a:t>RQ1</a:t>
            </a:r>
            <a:endParaRPr lang="en-US" sz="2000" dirty="0"/>
          </a:p>
        </p:txBody>
      </p:sp>
      <p:sp>
        <p:nvSpPr>
          <p:cNvPr id="6" name="Text 4"/>
          <p:cNvSpPr txBox="1"/>
          <p:nvPr/>
        </p:nvSpPr>
        <p:spPr>
          <a:xfrm>
            <a:off x="1066800" y="2324100"/>
            <a:ext cx="1854200" cy="2540000"/>
          </a:xfrm>
          <a:prstGeom prst="rect">
            <a:avLst/>
          </a:prstGeom>
          <a:noFill/>
          <a:ln/>
        </p:spPr>
        <p:txBody>
          <a:bodyPr wrap="square" lIns="0" tIns="0" rIns="0" bIns="0" rtlCol="0" anchor="t"/>
          <a:lstStyle/>
          <a:p>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Which architecture works best on 12 leads, and how far ahead of traditional baselines?</a:t>
            </a:r>
            <a:endParaRPr lang="en-US" sz="1300" dirty="0"/>
          </a:p>
        </p:txBody>
      </p:sp>
      <p:sp>
        <p:nvSpPr>
          <p:cNvPr id="7" name="Shape 5"/>
          <p:cNvSpPr/>
          <p:nvPr/>
        </p:nvSpPr>
        <p:spPr>
          <a:xfrm>
            <a:off x="3352800" y="1587500"/>
            <a:ext cx="2362200" cy="3683000"/>
          </a:xfrm>
          <a:prstGeom prst="rect">
            <a:avLst/>
          </a:prstGeom>
          <a:solidFill>
            <a:srgbClr val="F6EAE7"/>
          </a:solidFill>
          <a:ln/>
        </p:spPr>
      </p:sp>
      <p:sp>
        <p:nvSpPr>
          <p:cNvPr id="8" name="Text 6"/>
          <p:cNvSpPr txBox="1"/>
          <p:nvPr/>
        </p:nvSpPr>
        <p:spPr>
          <a:xfrm>
            <a:off x="3606800" y="1841500"/>
            <a:ext cx="1854200" cy="355600"/>
          </a:xfrm>
          <a:prstGeom prst="rect">
            <a:avLst/>
          </a:prstGeom>
          <a:noFill/>
          <a:ln/>
        </p:spPr>
        <p:txBody>
          <a:bodyPr wrap="square" lIns="0" tIns="0" rIns="0" bIns="0" rtlCol="0" anchor="t"/>
          <a:lstStyle/>
          <a:p>
            <a:pPr indent="0" marL="0">
              <a:buNone/>
            </a:pPr>
            <a:r>
              <a:rPr lang="en-US" sz="2000" b="1" dirty="0">
                <a:solidFill>
                  <a:srgbClr val="A23B2A"/>
                </a:solidFill>
                <a:latin typeface="Cambria" pitchFamily="34" charset="0"/>
                <a:ea typeface="Cambria" pitchFamily="34" charset="-122"/>
                <a:cs typeface="Cambria" pitchFamily="34" charset="-120"/>
              </a:rPr>
              <a:t>RQ2</a:t>
            </a:r>
            <a:endParaRPr lang="en-US" sz="2000" dirty="0"/>
          </a:p>
        </p:txBody>
      </p:sp>
      <p:sp>
        <p:nvSpPr>
          <p:cNvPr id="9" name="Text 7"/>
          <p:cNvSpPr txBox="1"/>
          <p:nvPr/>
        </p:nvSpPr>
        <p:spPr>
          <a:xfrm>
            <a:off x="3606800" y="2324100"/>
            <a:ext cx="1854200" cy="2540000"/>
          </a:xfrm>
          <a:prstGeom prst="rect">
            <a:avLst/>
          </a:prstGeom>
          <a:noFill/>
          <a:ln/>
        </p:spPr>
        <p:txBody>
          <a:bodyPr wrap="square" lIns="0" tIns="0" rIns="0" bIns="0" rtlCol="0" anchor="t"/>
          <a:lstStyle/>
          <a:p>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How much is lost as leads are removed, and which diagnoses can a reduced set still screen for?</a:t>
            </a:r>
            <a:endParaRPr lang="en-US" sz="1300" dirty="0"/>
          </a:p>
        </p:txBody>
      </p:sp>
      <p:sp>
        <p:nvSpPr>
          <p:cNvPr id="10" name="Shape 8"/>
          <p:cNvSpPr/>
          <p:nvPr/>
        </p:nvSpPr>
        <p:spPr>
          <a:xfrm>
            <a:off x="5892800" y="1587500"/>
            <a:ext cx="2362200" cy="3683000"/>
          </a:xfrm>
          <a:prstGeom prst="rect">
            <a:avLst/>
          </a:prstGeom>
          <a:solidFill>
            <a:srgbClr val="F4F5F7"/>
          </a:solidFill>
          <a:ln/>
        </p:spPr>
      </p:sp>
      <p:sp>
        <p:nvSpPr>
          <p:cNvPr id="11" name="Text 9"/>
          <p:cNvSpPr txBox="1"/>
          <p:nvPr/>
        </p:nvSpPr>
        <p:spPr>
          <a:xfrm>
            <a:off x="6146800" y="1841500"/>
            <a:ext cx="1854200" cy="355600"/>
          </a:xfrm>
          <a:prstGeom prst="rect">
            <a:avLst/>
          </a:prstGeom>
          <a:noFill/>
          <a:ln/>
        </p:spPr>
        <p:txBody>
          <a:bodyPr wrap="square" lIns="0" tIns="0" rIns="0" bIns="0" rtlCol="0" anchor="t"/>
          <a:lstStyle/>
          <a:p>
            <a:pPr indent="0" marL="0">
              <a:buNone/>
            </a:pPr>
            <a:r>
              <a:rPr lang="en-US" sz="2000" b="1" dirty="0">
                <a:solidFill>
                  <a:srgbClr val="1F3A5F"/>
                </a:solidFill>
                <a:latin typeface="Cambria" pitchFamily="34" charset="0"/>
                <a:ea typeface="Cambria" pitchFamily="34" charset="-122"/>
                <a:cs typeface="Cambria" pitchFamily="34" charset="-120"/>
              </a:rPr>
              <a:t>RQ3</a:t>
            </a:r>
            <a:endParaRPr lang="en-US" sz="2000" dirty="0"/>
          </a:p>
        </p:txBody>
      </p:sp>
      <p:sp>
        <p:nvSpPr>
          <p:cNvPr id="12" name="Text 10"/>
          <p:cNvSpPr txBox="1"/>
          <p:nvPr/>
        </p:nvSpPr>
        <p:spPr>
          <a:xfrm>
            <a:off x="6146800" y="2324100"/>
            <a:ext cx="1854200" cy="2540000"/>
          </a:xfrm>
          <a:prstGeom prst="rect">
            <a:avLst/>
          </a:prstGeom>
          <a:noFill/>
          <a:ln/>
        </p:spPr>
        <p:txBody>
          <a:bodyPr wrap="square" lIns="0" tIns="0" rIns="0" bIns="0" rtlCol="0" anchor="t"/>
          <a:lstStyle/>
          <a:p>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Does it hold for triage, under noise, with fewer labels, and in another hospital?</a:t>
            </a:r>
            <a:endParaRPr lang="en-US" sz="1300" dirty="0"/>
          </a:p>
        </p:txBody>
      </p:sp>
      <p:sp>
        <p:nvSpPr>
          <p:cNvPr id="13" name="Shape 11"/>
          <p:cNvSpPr/>
          <p:nvPr/>
        </p:nvSpPr>
        <p:spPr>
          <a:xfrm>
            <a:off x="8432800" y="1587500"/>
            <a:ext cx="2946400" cy="3683000"/>
          </a:xfrm>
          <a:prstGeom prst="rect">
            <a:avLst/>
          </a:prstGeom>
          <a:solidFill>
            <a:srgbClr val="FFFFFF"/>
          </a:solidFill>
          <a:ln w="19050">
            <a:solidFill>
              <a:srgbClr val="1F3A5F"/>
            </a:solidFill>
            <a:prstDash val="solid"/>
          </a:ln>
        </p:spPr>
      </p:sp>
      <p:sp>
        <p:nvSpPr>
          <p:cNvPr id="14" name="Text 12"/>
          <p:cNvSpPr txBox="1"/>
          <p:nvPr/>
        </p:nvSpPr>
        <p:spPr>
          <a:xfrm>
            <a:off x="8686800" y="1841500"/>
            <a:ext cx="2438400" cy="292100"/>
          </a:xfrm>
          <a:prstGeom prst="rect">
            <a:avLst/>
          </a:prstGeom>
          <a:noFill/>
          <a:ln/>
        </p:spPr>
        <p:txBody>
          <a:bodyPr wrap="square" lIns="0" tIns="0" rIns="0" bIns="0" rtlCol="0" anchor="t"/>
          <a:lstStyle/>
          <a:p>
            <a:pPr indent="0" marL="0">
              <a:buNone/>
            </a:pPr>
            <a:r>
              <a:rPr lang="en-US" sz="1600" b="1" dirty="0">
                <a:solidFill>
                  <a:srgbClr val="1F3A5F"/>
                </a:solidFill>
                <a:latin typeface="Cambria" pitchFamily="34" charset="0"/>
                <a:ea typeface="Cambria" pitchFamily="34" charset="-122"/>
                <a:cs typeface="Cambria" pitchFamily="34" charset="-120"/>
              </a:rPr>
              <a:t>Screen rule</a:t>
            </a:r>
            <a:endParaRPr lang="en-US" sz="1600" dirty="0"/>
          </a:p>
        </p:txBody>
      </p:sp>
      <p:sp>
        <p:nvSpPr>
          <p:cNvPr id="15" name="Text 13"/>
          <p:cNvSpPr txBox="1"/>
          <p:nvPr/>
        </p:nvSpPr>
        <p:spPr>
          <a:xfrm>
            <a:off x="8686800" y="2235200"/>
            <a:ext cx="2438400" cy="2095500"/>
          </a:xfrm>
          <a:prstGeom prst="rect">
            <a:avLst/>
          </a:prstGeom>
          <a:noFill/>
          <a:ln/>
        </p:spPr>
        <p:txBody>
          <a:bodyPr wrap="square" lIns="0" tIns="0" rIns="0" bIns="0" rtlCol="0" anchor="t"/>
          <a:lstStyle/>
          <a:p>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A reduced lead set can replace 12 leads for a diagnosis only if </a:t>
            </a:r>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both</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hold:</a:t>
            </a:r>
            <a:endParaRPr lang="en-US" sz="1300" dirty="0"/>
          </a:p>
          <a:p>
            <a:pPr indent="0" marL="0">
              <a:lnSpc>
                <a:spcPct val="110000"/>
              </a:lnSpc>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1  </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95% CI lower bound of ΔAUROC ≥ −0.02</a:t>
            </a:r>
            <a:endParaRPr lang="en-US" sz="1300" dirty="0"/>
          </a:p>
          <a:p>
            <a:pPr indent="0" marL="0">
              <a:lnSpc>
                <a:spcPct val="110000"/>
              </a:lnSpc>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2  </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sensitivity ≥ 0.80 at 90% specificity</a:t>
            </a:r>
            <a:endParaRPr lang="en-US" sz="1300" dirty="0"/>
          </a:p>
        </p:txBody>
      </p:sp>
      <p:sp>
        <p:nvSpPr>
          <p:cNvPr id="16" name="Text 14"/>
          <p:cNvSpPr txBox="1"/>
          <p:nvPr/>
        </p:nvSpPr>
        <p:spPr>
          <a:xfrm>
            <a:off x="8686800" y="4572000"/>
            <a:ext cx="2438400" cy="444500"/>
          </a:xfrm>
          <a:prstGeom prst="rect">
            <a:avLst/>
          </a:prstGeom>
          <a:noFill/>
          <a:ln/>
        </p:spPr>
        <p:txBody>
          <a:bodyPr wrap="square" lIns="0" tIns="0" rIns="0" bIns="0" rtlCol="0" anchor="t"/>
          <a:lstStyle/>
          <a:p>
            <a:pPr indent="0" marL="0">
              <a:buNone/>
            </a:pPr>
            <a:r>
              <a:rPr lang="en-US" sz="1200" i="1" dirty="0">
                <a:solidFill>
                  <a:srgbClr val="5B6675"/>
                </a:solidFill>
                <a:latin typeface="Calibri" pitchFamily="34" charset="0"/>
                <a:ea typeface="Calibri" pitchFamily="34" charset="-122"/>
                <a:cs typeface="Calibri" pitchFamily="34" charset="-120"/>
              </a:rPr>
              <a:t>one met: conditional · none: not replaceable</a:t>
            </a:r>
            <a:endParaRPr lang="en-US" sz="1200" dirty="0"/>
          </a:p>
        </p:txBody>
      </p:sp>
      <p:sp>
        <p:nvSpPr>
          <p:cNvPr id="17" name="Shape 15"/>
          <p:cNvSpPr/>
          <p:nvPr/>
        </p:nvSpPr>
        <p:spPr>
          <a:xfrm>
            <a:off x="812800" y="5473700"/>
            <a:ext cx="10566400" cy="533400"/>
          </a:xfrm>
          <a:prstGeom prst="rect">
            <a:avLst/>
          </a:prstGeom>
          <a:solidFill>
            <a:srgbClr val="F4F5F7"/>
          </a:solidFill>
          <a:ln/>
        </p:spPr>
      </p:sp>
      <p:sp>
        <p:nvSpPr>
          <p:cNvPr id="18" name="Text 16"/>
          <p:cNvSpPr txBox="1"/>
          <p:nvPr/>
        </p:nvSpPr>
        <p:spPr>
          <a:xfrm>
            <a:off x="1016000" y="5473700"/>
            <a:ext cx="10160000" cy="53340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Key point.  </a:t>
            </a:r>
            <a:pPr indent="0" marL="0">
              <a:buNone/>
            </a:pPr>
            <a:r>
              <a:rPr lang="en-US" sz="1300" dirty="0">
                <a:solidFill>
                  <a:srgbClr val="1F2A37"/>
                </a:solidFill>
                <a:latin typeface="Calibri" pitchFamily="34" charset="0"/>
                <a:ea typeface="Calibri" pitchFamily="34" charset="-122"/>
                <a:cs typeface="Calibri" pitchFamily="34" charset="-120"/>
              </a:rPr>
              <a:t>An average AUROC cannot say whether a lead set can replace 12 leads; a rule written before seeing the results can.</a:t>
            </a:r>
            <a:endParaRPr lang="en-US" sz="1300" dirty="0"/>
          </a:p>
        </p:txBody>
      </p:sp>
      <p:sp>
        <p:nvSpPr>
          <p:cNvPr id="19" name="Text 17"/>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Twelve to One · BS6204</a:t>
            </a:r>
            <a:endParaRPr lang="en-US" sz="1200" dirty="0"/>
          </a:p>
        </p:txBody>
      </p:sp>
      <p:sp>
        <p:nvSpPr>
          <p:cNvPr id="20" name="Text 18"/>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STUDY DESIGN</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One protocol from raw ECG to verdict</a:t>
            </a:r>
            <a:endParaRPr lang="en-US" sz="2800" dirty="0"/>
          </a:p>
        </p:txBody>
      </p:sp>
      <p:pic>
        <p:nvPicPr>
          <p:cNvPr id="4" name="Image 0" descr="/mnt/user-data/uploads/NTU/NTU 6204/BS6204_Project_ECG/results/summary/paper_figs/figA_study_design.png">    </p:cNvPr>
          <p:cNvPicPr>
            <a:picLocks noChangeAspect="1"/>
          </p:cNvPicPr>
          <p:nvPr/>
        </p:nvPicPr>
        <p:blipFill>
          <a:blip r:embed="rId1"/>
          <a:stretch>
            <a:fillRect/>
          </a:stretch>
        </p:blipFill>
        <p:spPr>
          <a:xfrm>
            <a:off x="1915886" y="1498600"/>
            <a:ext cx="8360229" cy="4064000"/>
          </a:xfrm>
          <a:prstGeom prst="rect">
            <a:avLst/>
          </a:prstGeom>
        </p:spPr>
      </p:pic>
      <p:sp>
        <p:nvSpPr>
          <p:cNvPr id="5" name="Text 2"/>
          <p:cNvSpPr txBox="1"/>
          <p:nvPr/>
        </p:nvSpPr>
        <p:spPr>
          <a:xfrm>
            <a:off x="812800" y="5664200"/>
            <a:ext cx="10566400" cy="508000"/>
          </a:xfrm>
          <a:prstGeom prst="rect">
            <a:avLst/>
          </a:prstGeom>
          <a:noFill/>
          <a:ln/>
        </p:spPr>
        <p:txBody>
          <a:bodyPr wrap="square" lIns="0" tIns="0" rIns="0" bIns="0" rtlCol="0" anchor="t"/>
          <a:lstStyle/>
          <a:p>
            <a:pPr indent="0" marL="0">
              <a:buNone/>
            </a:pPr>
            <a:r>
              <a:rPr lang="en-US" sz="1200" b="1" dirty="0">
                <a:solidFill>
                  <a:srgbClr val="1F2A37"/>
                </a:solidFill>
                <a:latin typeface="Calibri" pitchFamily="34" charset="0"/>
                <a:ea typeface="Calibri" pitchFamily="34" charset="-122"/>
                <a:cs typeface="Calibri" pitchFamily="34" charset="-120"/>
              </a:rPr>
              <a:t>Figure 1.  </a:t>
            </a:r>
            <a:pPr indent="0" marL="0">
              <a:buNone/>
            </a:pPr>
            <a:r>
              <a:rPr lang="en-US" sz="1200" dirty="0">
                <a:solidFill>
                  <a:srgbClr val="5B6675"/>
                </a:solidFill>
                <a:latin typeface="Calibri" pitchFamily="34" charset="0"/>
                <a:ea typeface="Calibri" pitchFamily="34" charset="-122"/>
                <a:cs typeface="Calibri" pitchFamily="34" charset="-120"/>
              </a:rPr>
              <a:t>Study design. Every model shares one training recipe and three seeds. Test-fold metrics feed a screen rule written before any result; E7 reports external metrics only and does not enter the rule.</a:t>
            </a:r>
            <a:endParaRPr lang="en-US" sz="1200" dirty="0"/>
          </a:p>
        </p:txBody>
      </p:sp>
      <p:sp>
        <p:nvSpPr>
          <p:cNvPr id="6" name="Text 3"/>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Twelve to One · BS6204</a:t>
            </a:r>
            <a:endParaRPr lang="en-US" sz="1200" dirty="0"/>
          </a:p>
        </p:txBody>
      </p:sp>
      <p:sp>
        <p:nvSpPr>
          <p:cNvPr id="7" name="Text 4"/>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DATA, TASKS &amp; MODELS</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Same data and recipe, three inductive biases</a:t>
            </a:r>
            <a:endParaRPr lang="en-US" sz="2800" dirty="0"/>
          </a:p>
        </p:txBody>
      </p:sp>
      <p:sp>
        <p:nvSpPr>
          <p:cNvPr id="4" name="Shape 2"/>
          <p:cNvSpPr/>
          <p:nvPr/>
        </p:nvSpPr>
        <p:spPr>
          <a:xfrm>
            <a:off x="812800" y="1587500"/>
            <a:ext cx="2527300" cy="1016000"/>
          </a:xfrm>
          <a:prstGeom prst="rect">
            <a:avLst/>
          </a:prstGeom>
          <a:solidFill>
            <a:srgbClr val="FFFFFF"/>
          </a:solidFill>
          <a:ln w="19050">
            <a:solidFill>
              <a:srgbClr val="C3CAD3"/>
            </a:solidFill>
            <a:prstDash val="solid"/>
          </a:ln>
        </p:spPr>
      </p:sp>
      <p:sp>
        <p:nvSpPr>
          <p:cNvPr id="5" name="Text 3"/>
          <p:cNvSpPr txBox="1"/>
          <p:nvPr/>
        </p:nvSpPr>
        <p:spPr>
          <a:xfrm>
            <a:off x="812800" y="1714500"/>
            <a:ext cx="2527300" cy="482600"/>
          </a:xfrm>
          <a:prstGeom prst="rect">
            <a:avLst/>
          </a:prstGeom>
          <a:noFill/>
          <a:ln/>
        </p:spPr>
        <p:txBody>
          <a:bodyPr wrap="square" lIns="0" tIns="0" rIns="0" bIns="0" rtlCol="0" anchor="t"/>
          <a:lstStyle/>
          <a:p>
            <a:pPr algn="ctr" indent="0" marL="0">
              <a:buNone/>
            </a:pPr>
            <a:r>
              <a:rPr lang="en-US" sz="2800" b="1" dirty="0">
                <a:solidFill>
                  <a:srgbClr val="1F3A5F"/>
                </a:solidFill>
                <a:latin typeface="Cambria" pitchFamily="34" charset="0"/>
                <a:ea typeface="Cambria" pitchFamily="34" charset="-122"/>
                <a:cs typeface="Cambria" pitchFamily="34" charset="-120"/>
              </a:rPr>
              <a:t>21,388</a:t>
            </a:r>
            <a:endParaRPr lang="en-US" sz="2800" dirty="0"/>
          </a:p>
        </p:txBody>
      </p:sp>
      <p:sp>
        <p:nvSpPr>
          <p:cNvPr id="6" name="Text 4"/>
          <p:cNvSpPr txBox="1"/>
          <p:nvPr/>
        </p:nvSpPr>
        <p:spPr>
          <a:xfrm>
            <a:off x="812800" y="2222500"/>
            <a:ext cx="2527300" cy="254000"/>
          </a:xfrm>
          <a:prstGeom prst="rect">
            <a:avLst/>
          </a:prstGeom>
          <a:noFill/>
          <a:ln/>
        </p:spPr>
        <p:txBody>
          <a:bodyPr wrap="square" lIns="0" tIns="0" rIns="0" bIns="0" rtlCol="0" anchor="t"/>
          <a:lstStyle/>
          <a:p>
            <a:pPr algn="ctr" indent="0" marL="0">
              <a:buNone/>
            </a:pPr>
            <a:r>
              <a:rPr lang="en-US" sz="1200" dirty="0">
                <a:solidFill>
                  <a:srgbClr val="5B6675"/>
                </a:solidFill>
                <a:latin typeface="Calibri" pitchFamily="34" charset="0"/>
                <a:ea typeface="Calibri" pitchFamily="34" charset="-122"/>
                <a:cs typeface="Calibri" pitchFamily="34" charset="-120"/>
              </a:rPr>
              <a:t>labelled PTB-XL ECGs</a:t>
            </a:r>
            <a:endParaRPr lang="en-US" sz="1200" dirty="0"/>
          </a:p>
        </p:txBody>
      </p:sp>
      <p:sp>
        <p:nvSpPr>
          <p:cNvPr id="7" name="Shape 5"/>
          <p:cNvSpPr/>
          <p:nvPr/>
        </p:nvSpPr>
        <p:spPr>
          <a:xfrm>
            <a:off x="3492500" y="1587500"/>
            <a:ext cx="2527300" cy="1016000"/>
          </a:xfrm>
          <a:prstGeom prst="rect">
            <a:avLst/>
          </a:prstGeom>
          <a:solidFill>
            <a:srgbClr val="FFFFFF"/>
          </a:solidFill>
          <a:ln w="19050">
            <a:solidFill>
              <a:srgbClr val="C3CAD3"/>
            </a:solidFill>
            <a:prstDash val="solid"/>
          </a:ln>
        </p:spPr>
      </p:sp>
      <p:sp>
        <p:nvSpPr>
          <p:cNvPr id="8" name="Text 6"/>
          <p:cNvSpPr txBox="1"/>
          <p:nvPr/>
        </p:nvSpPr>
        <p:spPr>
          <a:xfrm>
            <a:off x="3492500" y="1714500"/>
            <a:ext cx="2527300" cy="482600"/>
          </a:xfrm>
          <a:prstGeom prst="rect">
            <a:avLst/>
          </a:prstGeom>
          <a:noFill/>
          <a:ln/>
        </p:spPr>
        <p:txBody>
          <a:bodyPr wrap="square" lIns="0" tIns="0" rIns="0" bIns="0" rtlCol="0" anchor="t"/>
          <a:lstStyle/>
          <a:p>
            <a:pPr algn="ctr" indent="0" marL="0">
              <a:buNone/>
            </a:pPr>
            <a:r>
              <a:rPr lang="en-US" sz="2800" b="1" dirty="0">
                <a:solidFill>
                  <a:srgbClr val="1F3A5F"/>
                </a:solidFill>
                <a:latin typeface="Cambria" pitchFamily="34" charset="0"/>
                <a:ea typeface="Cambria" pitchFamily="34" charset="-122"/>
                <a:cs typeface="Cambria" pitchFamily="34" charset="-120"/>
              </a:rPr>
              <a:t>6</a:t>
            </a:r>
            <a:endParaRPr lang="en-US" sz="2800" dirty="0"/>
          </a:p>
        </p:txBody>
      </p:sp>
      <p:sp>
        <p:nvSpPr>
          <p:cNvPr id="9" name="Text 7"/>
          <p:cNvSpPr txBox="1"/>
          <p:nvPr/>
        </p:nvSpPr>
        <p:spPr>
          <a:xfrm>
            <a:off x="3492500" y="2222500"/>
            <a:ext cx="2527300" cy="254000"/>
          </a:xfrm>
          <a:prstGeom prst="rect">
            <a:avLst/>
          </a:prstGeom>
          <a:noFill/>
          <a:ln/>
        </p:spPr>
        <p:txBody>
          <a:bodyPr wrap="square" lIns="0" tIns="0" rIns="0" bIns="0" rtlCol="0" anchor="t"/>
          <a:lstStyle/>
          <a:p>
            <a:pPr algn="ctr" indent="0" marL="0">
              <a:buNone/>
            </a:pPr>
            <a:r>
              <a:rPr lang="en-US" sz="1200" dirty="0">
                <a:solidFill>
                  <a:srgbClr val="5B6675"/>
                </a:solidFill>
                <a:latin typeface="Calibri" pitchFamily="34" charset="0"/>
                <a:ea typeface="Calibri" pitchFamily="34" charset="-122"/>
                <a:cs typeface="Calibri" pitchFamily="34" charset="-120"/>
              </a:rPr>
              <a:t>lead sets, 12 → I</a:t>
            </a:r>
            <a:endParaRPr lang="en-US" sz="1200" dirty="0"/>
          </a:p>
        </p:txBody>
      </p:sp>
      <p:sp>
        <p:nvSpPr>
          <p:cNvPr id="10" name="Shape 8"/>
          <p:cNvSpPr/>
          <p:nvPr/>
        </p:nvSpPr>
        <p:spPr>
          <a:xfrm>
            <a:off x="6172200" y="1587500"/>
            <a:ext cx="2527300" cy="1016000"/>
          </a:xfrm>
          <a:prstGeom prst="rect">
            <a:avLst/>
          </a:prstGeom>
          <a:solidFill>
            <a:srgbClr val="FFFFFF"/>
          </a:solidFill>
          <a:ln w="19050">
            <a:solidFill>
              <a:srgbClr val="C3CAD3"/>
            </a:solidFill>
            <a:prstDash val="solid"/>
          </a:ln>
        </p:spPr>
      </p:sp>
      <p:sp>
        <p:nvSpPr>
          <p:cNvPr id="11" name="Text 9"/>
          <p:cNvSpPr txBox="1"/>
          <p:nvPr/>
        </p:nvSpPr>
        <p:spPr>
          <a:xfrm>
            <a:off x="6172200" y="1714500"/>
            <a:ext cx="2527300" cy="482600"/>
          </a:xfrm>
          <a:prstGeom prst="rect">
            <a:avLst/>
          </a:prstGeom>
          <a:noFill/>
          <a:ln/>
        </p:spPr>
        <p:txBody>
          <a:bodyPr wrap="square" lIns="0" tIns="0" rIns="0" bIns="0" rtlCol="0" anchor="t"/>
          <a:lstStyle/>
          <a:p>
            <a:pPr algn="ctr" indent="0" marL="0">
              <a:buNone/>
            </a:pPr>
            <a:r>
              <a:rPr lang="en-US" sz="2800" b="1" dirty="0">
                <a:solidFill>
                  <a:srgbClr val="1F3A5F"/>
                </a:solidFill>
                <a:latin typeface="Cambria" pitchFamily="34" charset="0"/>
                <a:ea typeface="Cambria" pitchFamily="34" charset="-122"/>
                <a:cs typeface="Cambria" pitchFamily="34" charset="-120"/>
              </a:rPr>
              <a:t>102</a:t>
            </a:r>
            <a:endParaRPr lang="en-US" sz="2800" dirty="0"/>
          </a:p>
        </p:txBody>
      </p:sp>
      <p:sp>
        <p:nvSpPr>
          <p:cNvPr id="12" name="Text 10"/>
          <p:cNvSpPr txBox="1"/>
          <p:nvPr/>
        </p:nvSpPr>
        <p:spPr>
          <a:xfrm>
            <a:off x="6172200" y="2222500"/>
            <a:ext cx="2527300" cy="254000"/>
          </a:xfrm>
          <a:prstGeom prst="rect">
            <a:avLst/>
          </a:prstGeom>
          <a:noFill/>
          <a:ln/>
        </p:spPr>
        <p:txBody>
          <a:bodyPr wrap="square" lIns="0" tIns="0" rIns="0" bIns="0" rtlCol="0" anchor="t"/>
          <a:lstStyle/>
          <a:p>
            <a:pPr algn="ctr" indent="0" marL="0">
              <a:buNone/>
            </a:pPr>
            <a:r>
              <a:rPr lang="en-US" sz="1200" dirty="0">
                <a:solidFill>
                  <a:srgbClr val="5B6675"/>
                </a:solidFill>
                <a:latin typeface="Calibri" pitchFamily="34" charset="0"/>
                <a:ea typeface="Calibri" pitchFamily="34" charset="-122"/>
                <a:cs typeface="Calibri" pitchFamily="34" charset="-120"/>
              </a:rPr>
              <a:t>training runs, 3 seeds</a:t>
            </a:r>
            <a:endParaRPr lang="en-US" sz="1200" dirty="0"/>
          </a:p>
        </p:txBody>
      </p:sp>
      <p:sp>
        <p:nvSpPr>
          <p:cNvPr id="13" name="Shape 11"/>
          <p:cNvSpPr/>
          <p:nvPr/>
        </p:nvSpPr>
        <p:spPr>
          <a:xfrm>
            <a:off x="8851900" y="1587500"/>
            <a:ext cx="2527300" cy="1016000"/>
          </a:xfrm>
          <a:prstGeom prst="rect">
            <a:avLst/>
          </a:prstGeom>
          <a:solidFill>
            <a:srgbClr val="FFFFFF"/>
          </a:solidFill>
          <a:ln w="19050">
            <a:solidFill>
              <a:srgbClr val="C3CAD3"/>
            </a:solidFill>
            <a:prstDash val="solid"/>
          </a:ln>
        </p:spPr>
      </p:sp>
      <p:sp>
        <p:nvSpPr>
          <p:cNvPr id="14" name="Text 12"/>
          <p:cNvSpPr txBox="1"/>
          <p:nvPr/>
        </p:nvSpPr>
        <p:spPr>
          <a:xfrm>
            <a:off x="8851900" y="1714500"/>
            <a:ext cx="2527300" cy="482600"/>
          </a:xfrm>
          <a:prstGeom prst="rect">
            <a:avLst/>
          </a:prstGeom>
          <a:noFill/>
          <a:ln/>
        </p:spPr>
        <p:txBody>
          <a:bodyPr wrap="square" lIns="0" tIns="0" rIns="0" bIns="0" rtlCol="0" anchor="t"/>
          <a:lstStyle/>
          <a:p>
            <a:pPr algn="ctr" indent="0" marL="0">
              <a:buNone/>
            </a:pPr>
            <a:r>
              <a:rPr lang="en-US" sz="2800" b="1" dirty="0">
                <a:solidFill>
                  <a:srgbClr val="A23B2A"/>
                </a:solidFill>
                <a:latin typeface="Cambria" pitchFamily="34" charset="0"/>
                <a:ea typeface="Cambria" pitchFamily="34" charset="-122"/>
                <a:cs typeface="Cambria" pitchFamily="34" charset="-120"/>
              </a:rPr>
              <a:t>34,815</a:t>
            </a:r>
            <a:endParaRPr lang="en-US" sz="2800" dirty="0"/>
          </a:p>
        </p:txBody>
      </p:sp>
      <p:sp>
        <p:nvSpPr>
          <p:cNvPr id="15" name="Text 13"/>
          <p:cNvSpPr txBox="1"/>
          <p:nvPr/>
        </p:nvSpPr>
        <p:spPr>
          <a:xfrm>
            <a:off x="8851900" y="2222500"/>
            <a:ext cx="2527300" cy="254000"/>
          </a:xfrm>
          <a:prstGeom prst="rect">
            <a:avLst/>
          </a:prstGeom>
          <a:noFill/>
          <a:ln/>
        </p:spPr>
        <p:txBody>
          <a:bodyPr wrap="square" lIns="0" tIns="0" rIns="0" bIns="0" rtlCol="0" anchor="t"/>
          <a:lstStyle/>
          <a:p>
            <a:pPr algn="ctr" indent="0" marL="0">
              <a:buNone/>
            </a:pPr>
            <a:r>
              <a:rPr lang="en-US" sz="1200" dirty="0">
                <a:solidFill>
                  <a:srgbClr val="5B6675"/>
                </a:solidFill>
                <a:latin typeface="Calibri" pitchFamily="34" charset="0"/>
                <a:ea typeface="Calibri" pitchFamily="34" charset="-122"/>
                <a:cs typeface="Calibri" pitchFamily="34" charset="-120"/>
              </a:rPr>
              <a:t>external Chapman ECGs</a:t>
            </a:r>
            <a:endParaRPr lang="en-US" sz="1200" dirty="0"/>
          </a:p>
        </p:txBody>
      </p:sp>
      <p:sp>
        <p:nvSpPr>
          <p:cNvPr id="16" name="Shape 14"/>
          <p:cNvSpPr/>
          <p:nvPr/>
        </p:nvSpPr>
        <p:spPr>
          <a:xfrm>
            <a:off x="812800" y="2819400"/>
            <a:ext cx="3403600" cy="2540000"/>
          </a:xfrm>
          <a:prstGeom prst="rect">
            <a:avLst/>
          </a:prstGeom>
          <a:solidFill>
            <a:srgbClr val="F4F5F7"/>
          </a:solidFill>
          <a:ln/>
        </p:spPr>
      </p:sp>
      <p:sp>
        <p:nvSpPr>
          <p:cNvPr id="17" name="Text 15"/>
          <p:cNvSpPr txBox="1"/>
          <p:nvPr/>
        </p:nvSpPr>
        <p:spPr>
          <a:xfrm>
            <a:off x="1041400" y="3022600"/>
            <a:ext cx="2946400" cy="2794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Tasks</a:t>
            </a:r>
            <a:endParaRPr lang="en-US" sz="1500" dirty="0"/>
          </a:p>
        </p:txBody>
      </p:sp>
      <p:sp>
        <p:nvSpPr>
          <p:cNvPr id="18" name="Text 16"/>
          <p:cNvSpPr txBox="1"/>
          <p:nvPr/>
        </p:nvSpPr>
        <p:spPr>
          <a:xfrm>
            <a:off x="1041400" y="3403600"/>
            <a:ext cx="2946400" cy="1460500"/>
          </a:xfrm>
          <a:prstGeom prst="rect">
            <a:avLst/>
          </a:prstGeom>
          <a:noFill/>
          <a:ln/>
        </p:spPr>
        <p:txBody>
          <a:bodyPr wrap="square" lIns="0" tIns="0" rIns="0" bIns="0" rtlCol="0" anchor="t"/>
          <a:lstStyle/>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T1</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five superclasses, multi-label: NORM, MI, STTC, CD, HYP</a:t>
            </a:r>
            <a:endParaRPr lang="en-US" sz="1300" dirty="0"/>
          </a:p>
          <a:p>
            <a:pPr indent="0" marL="0">
              <a:lnSpc>
                <a:spcPct val="110000"/>
              </a:lnSpc>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T2</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triage: normal vs any abnormality</a:t>
            </a:r>
            <a:endParaRPr lang="en-US" sz="1300" dirty="0"/>
          </a:p>
        </p:txBody>
      </p:sp>
      <p:sp>
        <p:nvSpPr>
          <p:cNvPr id="19" name="Text 17"/>
          <p:cNvSpPr txBox="1"/>
          <p:nvPr/>
        </p:nvSpPr>
        <p:spPr>
          <a:xfrm>
            <a:off x="1041400" y="4851400"/>
            <a:ext cx="2946400" cy="3810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official patient-level folds 17,084 / 2,146 / 2,158</a:t>
            </a:r>
            <a:endParaRPr lang="en-US" sz="1200" dirty="0"/>
          </a:p>
        </p:txBody>
      </p:sp>
      <p:sp>
        <p:nvSpPr>
          <p:cNvPr id="20" name="Shape 18"/>
          <p:cNvSpPr/>
          <p:nvPr/>
        </p:nvSpPr>
        <p:spPr>
          <a:xfrm>
            <a:off x="4394200" y="2819400"/>
            <a:ext cx="3403600" cy="2540000"/>
          </a:xfrm>
          <a:prstGeom prst="rect">
            <a:avLst/>
          </a:prstGeom>
          <a:solidFill>
            <a:srgbClr val="EAF2F2"/>
          </a:solidFill>
          <a:ln/>
        </p:spPr>
      </p:sp>
      <p:sp>
        <p:nvSpPr>
          <p:cNvPr id="21" name="Text 19"/>
          <p:cNvSpPr txBox="1"/>
          <p:nvPr/>
        </p:nvSpPr>
        <p:spPr>
          <a:xfrm>
            <a:off x="4622800" y="3022600"/>
            <a:ext cx="2946400" cy="2794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Architectures</a:t>
            </a:r>
            <a:endParaRPr lang="en-US" sz="1500" dirty="0"/>
          </a:p>
        </p:txBody>
      </p:sp>
      <p:sp>
        <p:nvSpPr>
          <p:cNvPr id="22" name="Text 20"/>
          <p:cNvSpPr txBox="1"/>
          <p:nvPr/>
        </p:nvSpPr>
        <p:spPr>
          <a:xfrm>
            <a:off x="4622800" y="3403600"/>
            <a:ext cx="2946400" cy="1460500"/>
          </a:xfrm>
          <a:prstGeom prst="rect">
            <a:avLst/>
          </a:prstGeom>
          <a:noFill/>
          <a:ln/>
        </p:spPr>
        <p:txBody>
          <a:bodyPr wrap="square" lIns="0" tIns="0" rIns="0" bIns="0" rtlCol="0" anchor="t"/>
          <a:lstStyle/>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ResNet1d</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local morphology, 4.1 M</a:t>
            </a:r>
            <a:endParaRPr lang="en-US" sz="1300" dirty="0"/>
          </a:p>
          <a:p>
            <a:pPr indent="0" marL="0">
              <a:lnSpc>
                <a:spcPct val="110000"/>
              </a:lnSpc>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CNN-BiLSTM</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beat-to-beat sequence, 0.8 M</a:t>
            </a:r>
            <a:endParaRPr lang="en-US" sz="1300" dirty="0"/>
          </a:p>
          <a:p>
            <a:pPr indent="0" marL="0">
              <a:lnSpc>
                <a:spcPct val="110000"/>
              </a:lnSpc>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ECG-ViT</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global attention over 200 ms patches, 0.8 M</a:t>
            </a:r>
            <a:endParaRPr lang="en-US" sz="1300" dirty="0"/>
          </a:p>
        </p:txBody>
      </p:sp>
      <p:sp>
        <p:nvSpPr>
          <p:cNvPr id="23" name="Shape 21"/>
          <p:cNvSpPr/>
          <p:nvPr/>
        </p:nvSpPr>
        <p:spPr>
          <a:xfrm>
            <a:off x="7975600" y="2819400"/>
            <a:ext cx="3403600" cy="2540000"/>
          </a:xfrm>
          <a:prstGeom prst="rect">
            <a:avLst/>
          </a:prstGeom>
          <a:solidFill>
            <a:srgbClr val="F6EAE7"/>
          </a:solidFill>
          <a:ln/>
        </p:spPr>
      </p:sp>
      <p:sp>
        <p:nvSpPr>
          <p:cNvPr id="24" name="Text 22"/>
          <p:cNvSpPr txBox="1"/>
          <p:nvPr/>
        </p:nvSpPr>
        <p:spPr>
          <a:xfrm>
            <a:off x="8204200" y="3022600"/>
            <a:ext cx="2946400" cy="2794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Strategies</a:t>
            </a:r>
            <a:endParaRPr lang="en-US" sz="1500" dirty="0"/>
          </a:p>
        </p:txBody>
      </p:sp>
      <p:sp>
        <p:nvSpPr>
          <p:cNvPr id="25" name="Text 23"/>
          <p:cNvSpPr txBox="1"/>
          <p:nvPr/>
        </p:nvSpPr>
        <p:spPr>
          <a:xfrm>
            <a:off x="8204200" y="3403600"/>
            <a:ext cx="2946400" cy="1460500"/>
          </a:xfrm>
          <a:prstGeom prst="rect">
            <a:avLst/>
          </a:prstGeom>
          <a:noFill/>
          <a:ln/>
        </p:spPr>
        <p:txBody>
          <a:bodyPr wrap="square" lIns="0" tIns="0" rIns="0" bIns="0" rtlCol="0" anchor="t"/>
          <a:lstStyle/>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S1</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scratch · </a:t>
            </a:r>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S2</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transfer from 12 leads</a:t>
            </a:r>
            <a:endParaRPr lang="en-US" sz="1300" dirty="0"/>
          </a:p>
          <a:p>
            <a:pPr indent="0" marL="0">
              <a:lnSpc>
                <a:spcPct val="110000"/>
              </a:lnSpc>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S3 LA-ResNet</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(ours): signal + lead mask, one model for all sets</a:t>
            </a:r>
            <a:endParaRPr lang="en-US" sz="1300" dirty="0"/>
          </a:p>
          <a:p>
            <a:pPr indent="0" marL="0">
              <a:lnSpc>
                <a:spcPct val="110000"/>
              </a:lnSpc>
              <a:buNone/>
            </a:pPr>
            <a:r>
              <a:rPr lang="en-US" sz="600" dirty="0">
                <a:solidFill>
                  <a:srgbClr val="1F2A37"/>
                </a:solidFill>
                <a:latin typeface="Calibri" pitchFamily="34" charset="0"/>
                <a:ea typeface="Calibri" pitchFamily="34" charset="-122"/>
                <a:cs typeface="Calibri" pitchFamily="34" charset="-120"/>
              </a:rPr>
              <a:t> </a:t>
            </a:r>
            <a:endParaRPr lang="en-US" sz="1300" dirty="0"/>
          </a:p>
          <a:p>
            <a:pPr indent="0" marL="0">
              <a:lnSpc>
                <a:spcPct val="110000"/>
              </a:lnSpc>
              <a:buNone/>
            </a:pPr>
            <a:r>
              <a:rPr lang="en-US" sz="1300" b="1" dirty="0">
                <a:solidFill>
                  <a:srgbClr val="1F2A37"/>
                </a:solidFill>
                <a:latin typeface="Calibri" pitchFamily="34" charset="0"/>
                <a:ea typeface="Calibri" pitchFamily="34" charset="-122"/>
                <a:cs typeface="Calibri" pitchFamily="34" charset="-120"/>
              </a:rPr>
              <a:t>S4</a:t>
            </a:r>
            <a:pPr indent="0" marL="0">
              <a:lnSpc>
                <a:spcPct val="110000"/>
              </a:lnSpc>
              <a:buNone/>
            </a:pPr>
            <a:r>
              <a:rPr lang="en-US" sz="1300" dirty="0">
                <a:solidFill>
                  <a:srgbClr val="1F2A37"/>
                </a:solidFill>
                <a:latin typeface="Calibri" pitchFamily="34" charset="0"/>
                <a:ea typeface="Calibri" pitchFamily="34" charset="-122"/>
                <a:cs typeface="Calibri" pitchFamily="34" charset="-120"/>
              </a:rPr>
              <a:t> masked-signal pre-training</a:t>
            </a:r>
            <a:endParaRPr lang="en-US" sz="1300" dirty="0"/>
          </a:p>
        </p:txBody>
      </p:sp>
      <p:sp>
        <p:nvSpPr>
          <p:cNvPr id="26" name="Text 24"/>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Twelve to One · BS6204</a:t>
            </a:r>
            <a:endParaRPr lang="en-US" sz="1200" dirty="0"/>
          </a:p>
        </p:txBody>
      </p:sp>
      <p:sp>
        <p:nvSpPr>
          <p:cNvPr id="27" name="Text 25"/>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RESULTS · RQ1 &amp; RQ2</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Twelve to one costs 0.09 AUROC</a:t>
            </a:r>
            <a:endParaRPr lang="en-US" sz="2800" dirty="0"/>
          </a:p>
        </p:txBody>
      </p:sp>
      <p:pic>
        <p:nvPicPr>
          <p:cNvPr id="4" name="Image 0" descr="/mnt/user-data/uploads/NTU/NTU 6204/BS6204_Project_ECG/results/summary/paper_figs/figB_lead_ladder.png">    </p:cNvPr>
          <p:cNvPicPr>
            <a:picLocks noChangeAspect="1"/>
          </p:cNvPicPr>
          <p:nvPr/>
        </p:nvPicPr>
        <p:blipFill>
          <a:blip r:embed="rId1"/>
          <a:stretch>
            <a:fillRect/>
          </a:stretch>
        </p:blipFill>
        <p:spPr>
          <a:xfrm>
            <a:off x="812800" y="1678908"/>
            <a:ext cx="6858000" cy="3373185"/>
          </a:xfrm>
          <a:prstGeom prst="rect">
            <a:avLst/>
          </a:prstGeom>
        </p:spPr>
      </p:pic>
      <p:sp>
        <p:nvSpPr>
          <p:cNvPr id="5" name="Text 2"/>
          <p:cNvSpPr txBox="1"/>
          <p:nvPr/>
        </p:nvSpPr>
        <p:spPr>
          <a:xfrm>
            <a:off x="7950200" y="1587500"/>
            <a:ext cx="3429000" cy="2794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How to read it</a:t>
            </a:r>
            <a:endParaRPr lang="en-US" sz="1500" dirty="0"/>
          </a:p>
        </p:txBody>
      </p:sp>
      <p:sp>
        <p:nvSpPr>
          <p:cNvPr id="6" name="Text 3"/>
          <p:cNvSpPr txBox="1"/>
          <p:nvPr/>
        </p:nvSpPr>
        <p:spPr>
          <a:xfrm>
            <a:off x="7950200" y="2006600"/>
            <a:ext cx="3429000" cy="4191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0.92</a:t>
            </a:r>
            <a:endParaRPr lang="en-US" sz="2800" dirty="0"/>
          </a:p>
        </p:txBody>
      </p:sp>
      <p:sp>
        <p:nvSpPr>
          <p:cNvPr id="7" name="Text 4"/>
          <p:cNvSpPr txBox="1"/>
          <p:nvPr/>
        </p:nvSpPr>
        <p:spPr>
          <a:xfrm>
            <a:off x="7950200" y="2451100"/>
            <a:ext cx="3429000" cy="6350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all three models on 12 leads, matching the PTB-XL benchmark (0.921–0.930); B2 features 0.86</a:t>
            </a:r>
            <a:endParaRPr lang="en-US" sz="1200" dirty="0"/>
          </a:p>
        </p:txBody>
      </p:sp>
      <p:sp>
        <p:nvSpPr>
          <p:cNvPr id="8" name="Text 5"/>
          <p:cNvSpPr txBox="1"/>
          <p:nvPr/>
        </p:nvSpPr>
        <p:spPr>
          <a:xfrm>
            <a:off x="7950200" y="3175000"/>
            <a:ext cx="3429000" cy="419100"/>
          </a:xfrm>
          <a:prstGeom prst="rect">
            <a:avLst/>
          </a:prstGeom>
          <a:noFill/>
          <a:ln/>
        </p:spPr>
        <p:txBody>
          <a:bodyPr wrap="square" lIns="0" tIns="0" rIns="0" bIns="0" rtlCol="0" anchor="t"/>
          <a:lstStyle/>
          <a:p>
            <a:pPr indent="0" marL="0">
              <a:buNone/>
            </a:pPr>
            <a:r>
              <a:rPr lang="en-US" sz="2800" b="1" dirty="0">
                <a:solidFill>
                  <a:srgbClr val="A23B2A"/>
                </a:solidFill>
                <a:latin typeface="Cambria" pitchFamily="34" charset="0"/>
                <a:ea typeface="Cambria" pitchFamily="34" charset="-122"/>
                <a:cs typeface="Cambria" pitchFamily="34" charset="-120"/>
              </a:rPr>
              <a:t>−0.090</a:t>
            </a:r>
            <a:endParaRPr lang="en-US" sz="2800" dirty="0"/>
          </a:p>
        </p:txBody>
      </p:sp>
      <p:sp>
        <p:nvSpPr>
          <p:cNvPr id="9" name="Text 6"/>
          <p:cNvSpPr txBox="1"/>
          <p:nvPr/>
        </p:nvSpPr>
        <p:spPr>
          <a:xfrm>
            <a:off x="7950200" y="3619500"/>
            <a:ext cx="3429000" cy="4445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12 leads → lead I (ResNet1d ensemble, 95% CI 0.081–0.100)</a:t>
            </a:r>
            <a:endParaRPr lang="en-US" sz="1200" dirty="0"/>
          </a:p>
        </p:txBody>
      </p:sp>
      <p:sp>
        <p:nvSpPr>
          <p:cNvPr id="10" name="Text 7"/>
          <p:cNvSpPr txBox="1"/>
          <p:nvPr/>
        </p:nvSpPr>
        <p:spPr>
          <a:xfrm>
            <a:off x="7950200" y="4254500"/>
            <a:ext cx="3429000" cy="5080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Six or two leads cost 0.02–0.03; the big step is to a single lead.</a:t>
            </a:r>
            <a:endParaRPr lang="en-US" sz="1200" dirty="0"/>
          </a:p>
        </p:txBody>
      </p:sp>
      <p:sp>
        <p:nvSpPr>
          <p:cNvPr id="11" name="Shape 8"/>
          <p:cNvSpPr/>
          <p:nvPr/>
        </p:nvSpPr>
        <p:spPr>
          <a:xfrm>
            <a:off x="812800" y="5473700"/>
            <a:ext cx="10566400" cy="533400"/>
          </a:xfrm>
          <a:prstGeom prst="rect">
            <a:avLst/>
          </a:prstGeom>
          <a:solidFill>
            <a:srgbClr val="F4F5F7"/>
          </a:solidFill>
          <a:ln/>
        </p:spPr>
      </p:sp>
      <p:sp>
        <p:nvSpPr>
          <p:cNvPr id="12" name="Text 9"/>
          <p:cNvSpPr txBox="1"/>
          <p:nvPr/>
        </p:nvSpPr>
        <p:spPr>
          <a:xfrm>
            <a:off x="1016000" y="5473700"/>
            <a:ext cx="10160000" cy="53340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Key point.  </a:t>
            </a:r>
            <a:pPr indent="0" marL="0">
              <a:buNone/>
            </a:pPr>
            <a:r>
              <a:rPr lang="en-US" sz="1300" dirty="0">
                <a:solidFill>
                  <a:srgbClr val="1F2A37"/>
                </a:solidFill>
                <a:latin typeface="Calibri" pitchFamily="34" charset="0"/>
                <a:ea typeface="Calibri" pitchFamily="34" charset="-122"/>
                <a:cs typeface="Calibri" pitchFamily="34" charset="-120"/>
              </a:rPr>
              <a:t>Every architecture follows the same curve, so the loss comes from the input, not from the model choice.</a:t>
            </a:r>
            <a:endParaRPr lang="en-US" sz="1300" dirty="0"/>
          </a:p>
        </p:txBody>
      </p:sp>
      <p:sp>
        <p:nvSpPr>
          <p:cNvPr id="13" name="Text 10"/>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Mean ± SD over 3 seeds; paired bootstrap, Holm-corrected</a:t>
            </a:r>
            <a:endParaRPr lang="en-US" sz="1200" dirty="0"/>
          </a:p>
        </p:txBody>
      </p:sp>
      <p:sp>
        <p:nvSpPr>
          <p:cNvPr id="14" name="Text 11"/>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RESULTS · RQ2</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Infarction loses most, ST/T change least</a:t>
            </a:r>
            <a:endParaRPr lang="en-US" sz="2800" dirty="0"/>
          </a:p>
        </p:txBody>
      </p:sp>
      <p:pic>
        <p:nvPicPr>
          <p:cNvPr id="4" name="Image 0" descr="/mnt/user-data/uploads/NTU/NTU 6204/BS6204_Project_ECG/results/summary/paper_figs/figC_per_class_heatmap.png">    </p:cNvPr>
          <p:cNvPicPr>
            <a:picLocks noChangeAspect="1"/>
          </p:cNvPicPr>
          <p:nvPr/>
        </p:nvPicPr>
        <p:blipFill>
          <a:blip r:embed="rId1"/>
          <a:stretch>
            <a:fillRect/>
          </a:stretch>
        </p:blipFill>
        <p:spPr>
          <a:xfrm>
            <a:off x="812800" y="1706931"/>
            <a:ext cx="4381500" cy="3444138"/>
          </a:xfrm>
          <a:prstGeom prst="rect">
            <a:avLst/>
          </a:prstGeom>
        </p:spPr>
      </p:pic>
      <p:sp>
        <p:nvSpPr>
          <p:cNvPr id="5" name="Shape 2"/>
          <p:cNvSpPr/>
          <p:nvPr/>
        </p:nvSpPr>
        <p:spPr>
          <a:xfrm>
            <a:off x="5499100" y="1778000"/>
            <a:ext cx="330200" cy="330200"/>
          </a:xfrm>
          <a:prstGeom prst="ellipse">
            <a:avLst/>
          </a:prstGeom>
          <a:solidFill>
            <a:srgbClr val="A23B2A"/>
          </a:solidFill>
          <a:ln/>
        </p:spPr>
      </p:sp>
      <p:sp>
        <p:nvSpPr>
          <p:cNvPr id="6" name="Text 3"/>
          <p:cNvSpPr txBox="1"/>
          <p:nvPr/>
        </p:nvSpPr>
        <p:spPr>
          <a:xfrm>
            <a:off x="5499100" y="17780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5981700" y="1790700"/>
            <a:ext cx="53975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MI: 0.918 → 0.787 with lead I</a:t>
            </a:r>
            <a:endParaRPr lang="en-US" sz="1400" dirty="0"/>
          </a:p>
        </p:txBody>
      </p:sp>
      <p:sp>
        <p:nvSpPr>
          <p:cNvPr id="8" name="Text 5"/>
          <p:cNvSpPr txBox="1"/>
          <p:nvPr/>
        </p:nvSpPr>
        <p:spPr>
          <a:xfrm>
            <a:off x="5981700" y="2057400"/>
            <a:ext cx="5397500" cy="508000"/>
          </a:xfrm>
          <a:prstGeom prst="rect">
            <a:avLst/>
          </a:prstGeom>
          <a:noFill/>
          <a:ln/>
        </p:spPr>
        <p:txBody>
          <a:bodyPr wrap="square" lIns="0" tIns="0" rIns="0" bIns="0" rtlCol="0" anchor="t"/>
          <a:lstStyle/>
          <a:p>
            <a:pPr indent="0" marL="0">
              <a:lnSpc>
                <a:spcPct val="105000"/>
              </a:lnSpc>
              <a:buNone/>
            </a:pPr>
            <a:r>
              <a:rPr lang="en-US" sz="1300" dirty="0">
                <a:solidFill>
                  <a:srgbClr val="5B6675"/>
                </a:solidFill>
                <a:latin typeface="Calibri" pitchFamily="34" charset="0"/>
                <a:ea typeface="Calibri" pitchFamily="34" charset="-122"/>
                <a:cs typeface="Calibri" pitchFamily="34" charset="-120"/>
              </a:rPr>
              <a:t>inferior (II, III, aVF) and anterior (V1–V4) changes lie mostly outside lead I</a:t>
            </a:r>
            <a:endParaRPr lang="en-US" sz="1300" dirty="0"/>
          </a:p>
        </p:txBody>
      </p:sp>
      <p:sp>
        <p:nvSpPr>
          <p:cNvPr id="9" name="Shape 6"/>
          <p:cNvSpPr/>
          <p:nvPr/>
        </p:nvSpPr>
        <p:spPr>
          <a:xfrm>
            <a:off x="5499100" y="2984500"/>
            <a:ext cx="330200" cy="330200"/>
          </a:xfrm>
          <a:prstGeom prst="ellipse">
            <a:avLst/>
          </a:prstGeom>
          <a:solidFill>
            <a:srgbClr val="2F6F73"/>
          </a:solidFill>
          <a:ln/>
        </p:spPr>
      </p:sp>
      <p:sp>
        <p:nvSpPr>
          <p:cNvPr id="10" name="Text 7"/>
          <p:cNvSpPr txBox="1"/>
          <p:nvPr/>
        </p:nvSpPr>
        <p:spPr>
          <a:xfrm>
            <a:off x="5499100" y="29845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txBox="1"/>
          <p:nvPr/>
        </p:nvSpPr>
        <p:spPr>
          <a:xfrm>
            <a:off x="5981700" y="2997200"/>
            <a:ext cx="53975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STTC: 0.926 with chest leads only</a:t>
            </a:r>
            <a:endParaRPr lang="en-US" sz="1400" dirty="0"/>
          </a:p>
        </p:txBody>
      </p:sp>
      <p:sp>
        <p:nvSpPr>
          <p:cNvPr id="12" name="Text 9"/>
          <p:cNvSpPr txBox="1"/>
          <p:nvPr/>
        </p:nvSpPr>
        <p:spPr>
          <a:xfrm>
            <a:off x="5981700" y="3263900"/>
            <a:ext cx="5397500" cy="508000"/>
          </a:xfrm>
          <a:prstGeom prst="rect">
            <a:avLst/>
          </a:prstGeom>
          <a:noFill/>
          <a:ln/>
        </p:spPr>
        <p:txBody>
          <a:bodyPr wrap="square" lIns="0" tIns="0" rIns="0" bIns="0" rtlCol="0" anchor="t"/>
          <a:lstStyle/>
          <a:p>
            <a:pPr indent="0" marL="0">
              <a:lnSpc>
                <a:spcPct val="105000"/>
              </a:lnSpc>
              <a:buNone/>
            </a:pPr>
            <a:r>
              <a:rPr lang="en-US" sz="1300" dirty="0">
                <a:solidFill>
                  <a:srgbClr val="5B6675"/>
                </a:solidFill>
                <a:latin typeface="Calibri" pitchFamily="34" charset="0"/>
                <a:ea typeface="Calibri" pitchFamily="34" charset="-122"/>
                <a:cs typeface="Calibri" pitchFamily="34" charset="-120"/>
              </a:rPr>
              <a:t>almost the 12-lead value of 0.934</a:t>
            </a:r>
            <a:endParaRPr lang="en-US" sz="1300" dirty="0"/>
          </a:p>
        </p:txBody>
      </p:sp>
      <p:sp>
        <p:nvSpPr>
          <p:cNvPr id="13" name="Shape 10"/>
          <p:cNvSpPr/>
          <p:nvPr/>
        </p:nvSpPr>
        <p:spPr>
          <a:xfrm>
            <a:off x="5499100" y="4064000"/>
            <a:ext cx="330200" cy="330200"/>
          </a:xfrm>
          <a:prstGeom prst="ellipse">
            <a:avLst/>
          </a:prstGeom>
          <a:solidFill>
            <a:srgbClr val="1F3A5F"/>
          </a:solidFill>
          <a:ln/>
        </p:spPr>
      </p:sp>
      <p:sp>
        <p:nvSpPr>
          <p:cNvPr id="14" name="Text 11"/>
          <p:cNvSpPr txBox="1"/>
          <p:nvPr/>
        </p:nvSpPr>
        <p:spPr>
          <a:xfrm>
            <a:off x="5499100" y="40640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5981700" y="4076700"/>
            <a:ext cx="53975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HYP: chest 0.883 vs limb 0.855</a:t>
            </a:r>
            <a:endParaRPr lang="en-US" sz="1400" dirty="0"/>
          </a:p>
        </p:txBody>
      </p:sp>
      <p:sp>
        <p:nvSpPr>
          <p:cNvPr id="16" name="Text 13"/>
          <p:cNvSpPr txBox="1"/>
          <p:nvPr/>
        </p:nvSpPr>
        <p:spPr>
          <a:xfrm>
            <a:off x="5981700" y="4343400"/>
            <a:ext cx="5397500" cy="508000"/>
          </a:xfrm>
          <a:prstGeom prst="rect">
            <a:avLst/>
          </a:prstGeom>
          <a:noFill/>
          <a:ln/>
        </p:spPr>
        <p:txBody>
          <a:bodyPr wrap="square" lIns="0" tIns="0" rIns="0" bIns="0" rtlCol="0" anchor="t"/>
          <a:lstStyle/>
          <a:p>
            <a:pPr indent="0" marL="0">
              <a:lnSpc>
                <a:spcPct val="105000"/>
              </a:lnSpc>
              <a:buNone/>
            </a:pPr>
            <a:r>
              <a:rPr lang="en-US" sz="1300" dirty="0">
                <a:solidFill>
                  <a:srgbClr val="5B6675"/>
                </a:solidFill>
                <a:latin typeface="Calibri" pitchFamily="34" charset="0"/>
                <a:ea typeface="Calibri" pitchFamily="34" charset="-122"/>
                <a:cs typeface="Calibri" pitchFamily="34" charset="-120"/>
              </a:rPr>
              <a:t>hypertrophy criteria rely on precordial voltages</a:t>
            </a:r>
            <a:endParaRPr lang="en-US" sz="1300" dirty="0"/>
          </a:p>
        </p:txBody>
      </p:sp>
      <p:sp>
        <p:nvSpPr>
          <p:cNvPr id="17" name="Shape 14"/>
          <p:cNvSpPr/>
          <p:nvPr/>
        </p:nvSpPr>
        <p:spPr>
          <a:xfrm>
            <a:off x="812800" y="5473700"/>
            <a:ext cx="10566400" cy="533400"/>
          </a:xfrm>
          <a:prstGeom prst="rect">
            <a:avLst/>
          </a:prstGeom>
          <a:solidFill>
            <a:srgbClr val="F4F5F7"/>
          </a:solidFill>
          <a:ln/>
        </p:spPr>
      </p:sp>
      <p:sp>
        <p:nvSpPr>
          <p:cNvPr id="18" name="Text 15"/>
          <p:cNvSpPr txBox="1"/>
          <p:nvPr/>
        </p:nvSpPr>
        <p:spPr>
          <a:xfrm>
            <a:off x="1016000" y="5473700"/>
            <a:ext cx="10160000" cy="53340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Key point.  </a:t>
            </a:r>
            <a:pPr indent="0" marL="0">
              <a:buNone/>
            </a:pPr>
            <a:r>
              <a:rPr lang="en-US" sz="1300" dirty="0">
                <a:solidFill>
                  <a:srgbClr val="1F2A37"/>
                </a:solidFill>
                <a:latin typeface="Calibri" pitchFamily="34" charset="0"/>
                <a:ea typeface="Calibri" pitchFamily="34" charset="-122"/>
                <a:cs typeface="Calibri" pitchFamily="34" charset="-120"/>
              </a:rPr>
              <a:t>The average hides very different losses per diagnosis; anatomy explains the pattern, though we did not test it directly.</a:t>
            </a:r>
            <a:endParaRPr lang="en-US" sz="1300" dirty="0"/>
          </a:p>
        </p:txBody>
      </p:sp>
      <p:sp>
        <p:nvSpPr>
          <p:cNvPr id="19" name="Text 16"/>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ResNet1d values, mean over 3 seeds</a:t>
            </a:r>
            <a:endParaRPr lang="en-US" sz="1200" dirty="0"/>
          </a:p>
        </p:txBody>
      </p:sp>
      <p:sp>
        <p:nvSpPr>
          <p:cNvPr id="20" name="Text 17"/>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RESULTS · RQ2 · CONCLUSION MATRIX</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Only one cell can replace twelve leads</a:t>
            </a:r>
            <a:endParaRPr lang="en-US" sz="2800" dirty="0"/>
          </a:p>
        </p:txBody>
      </p:sp>
      <p:pic>
        <p:nvPicPr>
          <p:cNvPr id="4" name="Image 0" descr="/mnt/user-data/uploads/NTU/NTU 6204/BS6204_Project_ECG/results/summary/paper_figs/figD_conclusion_matrix.png">    </p:cNvPr>
          <p:cNvPicPr>
            <a:picLocks noChangeAspect="1"/>
          </p:cNvPicPr>
          <p:nvPr/>
        </p:nvPicPr>
        <p:blipFill>
          <a:blip r:embed="rId1"/>
          <a:stretch>
            <a:fillRect/>
          </a:stretch>
        </p:blipFill>
        <p:spPr>
          <a:xfrm>
            <a:off x="812800" y="1619812"/>
            <a:ext cx="7302500" cy="3618376"/>
          </a:xfrm>
          <a:prstGeom prst="rect">
            <a:avLst/>
          </a:prstGeom>
        </p:spPr>
      </p:pic>
      <p:sp>
        <p:nvSpPr>
          <p:cNvPr id="5" name="Shape 2"/>
          <p:cNvSpPr/>
          <p:nvPr/>
        </p:nvSpPr>
        <p:spPr>
          <a:xfrm>
            <a:off x="8369300" y="1778000"/>
            <a:ext cx="3009900" cy="1054100"/>
          </a:xfrm>
          <a:prstGeom prst="rect">
            <a:avLst/>
          </a:prstGeom>
          <a:solidFill>
            <a:srgbClr val="F4F5F7"/>
          </a:solidFill>
          <a:ln/>
        </p:spPr>
      </p:sp>
      <p:sp>
        <p:nvSpPr>
          <p:cNvPr id="6" name="Text 3"/>
          <p:cNvSpPr txBox="1"/>
          <p:nvPr/>
        </p:nvSpPr>
        <p:spPr>
          <a:xfrm>
            <a:off x="8547100" y="1905000"/>
            <a:ext cx="2667000" cy="381000"/>
          </a:xfrm>
          <a:prstGeom prst="rect">
            <a:avLst/>
          </a:prstGeom>
          <a:noFill/>
          <a:ln/>
        </p:spPr>
        <p:txBody>
          <a:bodyPr wrap="square" lIns="0" tIns="0" rIns="0" bIns="0" rtlCol="0" anchor="t"/>
          <a:lstStyle/>
          <a:p>
            <a:pPr indent="0" marL="0">
              <a:buNone/>
            </a:pPr>
            <a:r>
              <a:rPr lang="en-US" sz="2400" b="1" dirty="0">
                <a:solidFill>
                  <a:srgbClr val="1F3A5F"/>
                </a:solidFill>
                <a:latin typeface="Cambria" pitchFamily="34" charset="0"/>
                <a:ea typeface="Cambria" pitchFamily="34" charset="-122"/>
                <a:cs typeface="Cambria" pitchFamily="34" charset="-120"/>
              </a:rPr>
              <a:t>29 / 30</a:t>
            </a:r>
            <a:endParaRPr lang="en-US" sz="2400" dirty="0"/>
          </a:p>
        </p:txBody>
      </p:sp>
      <p:sp>
        <p:nvSpPr>
          <p:cNvPr id="7" name="Text 4"/>
          <p:cNvSpPr txBox="1"/>
          <p:nvPr/>
        </p:nvSpPr>
        <p:spPr>
          <a:xfrm>
            <a:off x="8547100" y="2324100"/>
            <a:ext cx="2667000" cy="4445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cells not replaceable</a:t>
            </a:r>
            <a:endParaRPr lang="en-US" sz="1200" dirty="0"/>
          </a:p>
        </p:txBody>
      </p:sp>
      <p:sp>
        <p:nvSpPr>
          <p:cNvPr id="8" name="Shape 5"/>
          <p:cNvSpPr/>
          <p:nvPr/>
        </p:nvSpPr>
        <p:spPr>
          <a:xfrm>
            <a:off x="8369300" y="2959100"/>
            <a:ext cx="3009900" cy="1054100"/>
          </a:xfrm>
          <a:prstGeom prst="rect">
            <a:avLst/>
          </a:prstGeom>
          <a:solidFill>
            <a:srgbClr val="EAF2F2"/>
          </a:solidFill>
          <a:ln/>
        </p:spPr>
      </p:sp>
      <p:sp>
        <p:nvSpPr>
          <p:cNvPr id="9" name="Text 6"/>
          <p:cNvSpPr txBox="1"/>
          <p:nvPr/>
        </p:nvSpPr>
        <p:spPr>
          <a:xfrm>
            <a:off x="8547100" y="3086100"/>
            <a:ext cx="2667000" cy="381000"/>
          </a:xfrm>
          <a:prstGeom prst="rect">
            <a:avLst/>
          </a:prstGeom>
          <a:noFill/>
          <a:ln/>
        </p:spPr>
        <p:txBody>
          <a:bodyPr wrap="square" lIns="0" tIns="0" rIns="0" bIns="0" rtlCol="0" anchor="t"/>
          <a:lstStyle/>
          <a:p>
            <a:pPr indent="0" marL="0">
              <a:buNone/>
            </a:pPr>
            <a:r>
              <a:rPr lang="en-US" sz="2400" b="1" dirty="0">
                <a:solidFill>
                  <a:srgbClr val="2F6F73"/>
                </a:solidFill>
                <a:latin typeface="Cambria" pitchFamily="34" charset="0"/>
                <a:ea typeface="Cambria" pitchFamily="34" charset="-122"/>
                <a:cs typeface="Cambria" pitchFamily="34" charset="-120"/>
              </a:rPr>
              <a:t>STTC</a:t>
            </a:r>
            <a:endParaRPr lang="en-US" sz="2400" dirty="0"/>
          </a:p>
        </p:txBody>
      </p:sp>
      <p:sp>
        <p:nvSpPr>
          <p:cNvPr id="10" name="Text 7"/>
          <p:cNvSpPr txBox="1"/>
          <p:nvPr/>
        </p:nvSpPr>
        <p:spPr>
          <a:xfrm>
            <a:off x="8547100" y="3505200"/>
            <a:ext cx="2667000" cy="444500"/>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with chest leads: screen in all 5 approaches</a:t>
            </a:r>
            <a:endParaRPr lang="en-US" sz="1200" dirty="0"/>
          </a:p>
        </p:txBody>
      </p:sp>
      <p:sp>
        <p:nvSpPr>
          <p:cNvPr id="11" name="Shape 8"/>
          <p:cNvSpPr/>
          <p:nvPr/>
        </p:nvSpPr>
        <p:spPr>
          <a:xfrm>
            <a:off x="8369300" y="4140200"/>
            <a:ext cx="3009900" cy="1054100"/>
          </a:xfrm>
          <a:prstGeom prst="rect">
            <a:avLst/>
          </a:prstGeom>
          <a:solidFill>
            <a:srgbClr val="F6EAE7"/>
          </a:solidFill>
          <a:ln/>
        </p:spPr>
      </p:sp>
      <p:sp>
        <p:nvSpPr>
          <p:cNvPr id="12" name="Text 9"/>
          <p:cNvSpPr txBox="1"/>
          <p:nvPr/>
        </p:nvSpPr>
        <p:spPr>
          <a:xfrm>
            <a:off x="8547100" y="4267200"/>
            <a:ext cx="2667000" cy="381000"/>
          </a:xfrm>
          <a:prstGeom prst="rect">
            <a:avLst/>
          </a:prstGeom>
          <a:noFill/>
          <a:ln/>
        </p:spPr>
        <p:txBody>
          <a:bodyPr wrap="square" lIns="0" tIns="0" rIns="0" bIns="0" rtlCol="0" anchor="t"/>
          <a:lstStyle/>
          <a:p>
            <a:pPr indent="0" marL="0">
              <a:buNone/>
            </a:pPr>
            <a:r>
              <a:rPr lang="en-US" sz="2400" b="1" dirty="0">
                <a:solidFill>
                  <a:srgbClr val="A23B2A"/>
                </a:solidFill>
                <a:latin typeface="Cambria" pitchFamily="34" charset="0"/>
                <a:ea typeface="Cambria" pitchFamily="34" charset="-122"/>
                <a:cs typeface="Cambria" pitchFamily="34" charset="-120"/>
              </a:rPr>
              <a:t>0</a:t>
            </a:r>
            <a:endParaRPr lang="en-US" sz="2400" dirty="0"/>
          </a:p>
        </p:txBody>
      </p:sp>
      <p:sp>
        <p:nvSpPr>
          <p:cNvPr id="13" name="Text 10"/>
          <p:cNvSpPr txBox="1"/>
          <p:nvPr/>
        </p:nvSpPr>
        <p:spPr>
          <a:xfrm>
            <a:off x="8547100" y="4686300"/>
            <a:ext cx="2667000" cy="444500"/>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diagnoses screenable from lead I</a:t>
            </a:r>
            <a:endParaRPr lang="en-US" sz="1200" dirty="0"/>
          </a:p>
        </p:txBody>
      </p:sp>
      <p:sp>
        <p:nvSpPr>
          <p:cNvPr id="14" name="Shape 11"/>
          <p:cNvSpPr/>
          <p:nvPr/>
        </p:nvSpPr>
        <p:spPr>
          <a:xfrm>
            <a:off x="812800" y="5473700"/>
            <a:ext cx="10566400" cy="533400"/>
          </a:xfrm>
          <a:prstGeom prst="rect">
            <a:avLst/>
          </a:prstGeom>
          <a:solidFill>
            <a:srgbClr val="F6EAE7"/>
          </a:solidFill>
          <a:ln/>
        </p:spPr>
      </p:sp>
      <p:sp>
        <p:nvSpPr>
          <p:cNvPr id="15" name="Text 12"/>
          <p:cNvSpPr txBox="1"/>
          <p:nvPr/>
        </p:nvSpPr>
        <p:spPr>
          <a:xfrm>
            <a:off x="1016000" y="5473700"/>
            <a:ext cx="10160000" cy="53340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Key point.  </a:t>
            </a:r>
            <a:pPr indent="0" marL="0">
              <a:buNone/>
            </a:pPr>
            <a:r>
              <a:rPr lang="en-US" sz="1300" dirty="0">
                <a:solidFill>
                  <a:srgbClr val="1F2A37"/>
                </a:solidFill>
                <a:latin typeface="Calibri" pitchFamily="34" charset="0"/>
                <a:ea typeface="Calibri" pitchFamily="34" charset="-122"/>
                <a:cs typeface="Calibri" pitchFamily="34" charset="-120"/>
              </a:rPr>
              <a:t>Lead I fails even on non-inferiority (MI ΔAUROC −0.128); a margin of 0.01 or 0.03 adds no screen cell.</a:t>
            </a:r>
            <a:endParaRPr lang="en-US" sz="1300" dirty="0"/>
          </a:p>
        </p:txBody>
      </p:sp>
      <p:sp>
        <p:nvSpPr>
          <p:cNvPr id="16" name="Text 13"/>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Primary approach CNN-BiLSTM, chosen on validation · cells: ΔAUROC / sensitivity at 90% specificity</a:t>
            </a:r>
            <a:endParaRPr lang="en-US" sz="1200" dirty="0"/>
          </a:p>
        </p:txBody>
      </p:sp>
      <p:sp>
        <p:nvSpPr>
          <p:cNvPr id="17" name="Text 14"/>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RESULTS · TRAINING STRATEGIES</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Transfer does not recover the loss</a:t>
            </a:r>
            <a:endParaRPr lang="en-US" sz="2800" dirty="0"/>
          </a:p>
        </p:txBody>
      </p:sp>
      <p:sp>
        <p:nvSpPr>
          <p:cNvPr id="4" name="Text 2"/>
          <p:cNvSpPr txBox="1"/>
          <p:nvPr/>
        </p:nvSpPr>
        <p:spPr>
          <a:xfrm>
            <a:off x="812800" y="1587500"/>
            <a:ext cx="6756400" cy="2794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ΔAUROC vs dedicated ResNet1d (seed ensemble)</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2800" y="2006600"/>
          <a:ext cx="6756400" cy="914400"/>
        </p:xfrm>
        <a:graphic>
          <a:graphicData uri="http://schemas.openxmlformats.org/drawingml/2006/table">
            <a:tbl>
              <a:tblPr/>
              <a:tblGrid>
                <a:gridCol w="1891792"/>
                <a:gridCol w="1621536"/>
                <a:gridCol w="1621536"/>
                <a:gridCol w="1621536"/>
              </a:tblGrid>
              <a:tr h="3937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Lead set</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S2 fine-tune</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S3 LA-ResNet</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Holm p (S3)</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1F3A5F"/>
                    </a:solidFill>
                  </a:tcPr>
                </a:tc>
              </a:tr>
              <a:tr h="3937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limb 6</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−0.0003</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−0.0044</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0.064</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r>
              <a:tr h="3937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chest 6</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+0.0022</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−0.0054</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0.018</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r>
              <a:tr h="3937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I + II</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+0.0011</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−0.0033</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0.462</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r>
              <a:tr h="3937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lead II</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−0.0017</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−0.0095</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&lt; 0.001</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r>
              <a:tr h="3937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lead I</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−0.0023</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−0.0080</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&lt; 0.001</a:t>
                      </a:r>
                      <a:endParaRPr lang="en-US" sz="1300" dirty="0">
                        <a:latin typeface="Calibri" charset="0"/>
                        <a:ea typeface="Calibri" charset="0"/>
                        <a:cs typeface="Calibri" charset="0"/>
                      </a:endParaRPr>
                    </a:p>
                  </a:txBody>
                  <a:tcPr marL="73152" marR="73152" marT="73152" marB="73152"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812800" y="4572000"/>
            <a:ext cx="6756400" cy="4445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S2 fine-tune: no comparison significant after Holm (adjusted p 0.73–1.00). S2 frozen, lead I: −0.0078.</a:t>
            </a:r>
            <a:endParaRPr lang="en-US" sz="1200" dirty="0"/>
          </a:p>
        </p:txBody>
      </p:sp>
      <p:sp>
        <p:nvSpPr>
          <p:cNvPr id="7" name="Shape 4"/>
          <p:cNvSpPr/>
          <p:nvPr/>
        </p:nvSpPr>
        <p:spPr>
          <a:xfrm>
            <a:off x="7823200" y="1587500"/>
            <a:ext cx="3556000" cy="3683000"/>
          </a:xfrm>
          <a:prstGeom prst="rect">
            <a:avLst/>
          </a:prstGeom>
          <a:solidFill>
            <a:srgbClr val="F6EAE7"/>
          </a:solidFill>
          <a:ln/>
        </p:spPr>
      </p:sp>
      <p:sp>
        <p:nvSpPr>
          <p:cNvPr id="8" name="Text 5"/>
          <p:cNvSpPr txBox="1"/>
          <p:nvPr/>
        </p:nvSpPr>
        <p:spPr>
          <a:xfrm>
            <a:off x="8077200" y="1841500"/>
            <a:ext cx="3048000" cy="228600"/>
          </a:xfrm>
          <a:prstGeom prst="rect">
            <a:avLst/>
          </a:prstGeom>
          <a:noFill/>
          <a:ln/>
        </p:spPr>
        <p:txBody>
          <a:bodyPr wrap="square" lIns="0" tIns="0" rIns="0" bIns="0" rtlCol="0" anchor="t"/>
          <a:lstStyle/>
          <a:p>
            <a:pPr indent="0" marL="0">
              <a:buNone/>
            </a:pPr>
            <a:r>
              <a:rPr lang="en-US" sz="1200" b="1" spc="200" kern="0" dirty="0">
                <a:solidFill>
                  <a:srgbClr val="A23B2A"/>
                </a:solidFill>
                <a:latin typeface="Calibri" pitchFamily="34" charset="0"/>
                <a:ea typeface="Calibri" pitchFamily="34" charset="-122"/>
                <a:cs typeface="Calibri" pitchFamily="34" charset="-120"/>
              </a:rPr>
              <a:t>S3 LA-RESNET (OURS)</a:t>
            </a:r>
            <a:endParaRPr lang="en-US" sz="1200" dirty="0"/>
          </a:p>
        </p:txBody>
      </p:sp>
      <p:sp>
        <p:nvSpPr>
          <p:cNvPr id="9" name="Text 6"/>
          <p:cNvSpPr txBox="1"/>
          <p:nvPr/>
        </p:nvSpPr>
        <p:spPr>
          <a:xfrm>
            <a:off x="8077200" y="2159000"/>
            <a:ext cx="3048000" cy="825500"/>
          </a:xfrm>
          <a:prstGeom prst="rect">
            <a:avLst/>
          </a:prstGeom>
          <a:noFill/>
          <a:ln/>
        </p:spPr>
        <p:txBody>
          <a:bodyPr wrap="square" lIns="0" tIns="0" rIns="0" bIns="0" rtlCol="0" anchor="t"/>
          <a:lstStyle/>
          <a:p>
            <a:pPr indent="0" marL="0">
              <a:buNone/>
            </a:pPr>
            <a:r>
              <a:rPr lang="en-US" sz="2400" b="1" dirty="0">
                <a:solidFill>
                  <a:srgbClr val="1F3A5F"/>
                </a:solidFill>
                <a:latin typeface="Cambria" pitchFamily="34" charset="0"/>
                <a:ea typeface="Cambria" pitchFamily="34" charset="-122"/>
                <a:cs typeface="Cambria" pitchFamily="34" charset="-120"/>
              </a:rPr>
              <a:t>One model, six lead sets</a:t>
            </a:r>
            <a:endParaRPr lang="en-US" sz="2400" dirty="0"/>
          </a:p>
        </p:txBody>
      </p:sp>
      <p:sp>
        <p:nvSpPr>
          <p:cNvPr id="10" name="Text 7"/>
          <p:cNvSpPr txBox="1"/>
          <p:nvPr/>
        </p:nvSpPr>
        <p:spPr>
          <a:xfrm>
            <a:off x="8077200" y="3111500"/>
            <a:ext cx="3048000" cy="762000"/>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Input = 12 leads with missing ones zeroed + a 12-channel lead mask.</a:t>
            </a:r>
            <a:endParaRPr lang="en-US" sz="1300" dirty="0"/>
          </a:p>
        </p:txBody>
      </p:sp>
      <p:sp>
        <p:nvSpPr>
          <p:cNvPr id="11" name="Text 8"/>
          <p:cNvSpPr txBox="1"/>
          <p:nvPr/>
        </p:nvSpPr>
        <p:spPr>
          <a:xfrm>
            <a:off x="8077200" y="4000500"/>
            <a:ext cx="3048000" cy="762000"/>
          </a:xfrm>
          <a:prstGeom prst="rect">
            <a:avLst/>
          </a:prstGeom>
          <a:noFill/>
          <a:ln/>
        </p:spPr>
        <p:txBody>
          <a:bodyPr wrap="square" lIns="0" tIns="0" rIns="0" bIns="0" rtlCol="0" anchor="t"/>
          <a:lstStyle/>
          <a:p>
            <a:pPr indent="0" marL="0">
              <a:buNone/>
            </a:pPr>
            <a:r>
              <a:rPr lang="en-US" sz="1300" dirty="0">
                <a:solidFill>
                  <a:srgbClr val="1F2A37"/>
                </a:solidFill>
                <a:latin typeface="Calibri" pitchFamily="34" charset="0"/>
                <a:ea typeface="Calibri" pitchFamily="34" charset="-122"/>
                <a:cs typeface="Calibri" pitchFamily="34" charset="-120"/>
              </a:rPr>
              <a:t>12 leads: 0.926 vs 0.923 dedicated. Reduced sets: 0.003–0.010 lower.</a:t>
            </a:r>
            <a:endParaRPr lang="en-US" sz="1300" dirty="0"/>
          </a:p>
        </p:txBody>
      </p:sp>
      <p:sp>
        <p:nvSpPr>
          <p:cNvPr id="12" name="Shape 9"/>
          <p:cNvSpPr/>
          <p:nvPr/>
        </p:nvSpPr>
        <p:spPr>
          <a:xfrm>
            <a:off x="812800" y="5473700"/>
            <a:ext cx="10566400" cy="533400"/>
          </a:xfrm>
          <a:prstGeom prst="rect">
            <a:avLst/>
          </a:prstGeom>
          <a:solidFill>
            <a:srgbClr val="F4F5F7"/>
          </a:solidFill>
          <a:ln/>
        </p:spPr>
      </p:sp>
      <p:sp>
        <p:nvSpPr>
          <p:cNvPr id="13" name="Text 10"/>
          <p:cNvSpPr txBox="1"/>
          <p:nvPr/>
        </p:nvSpPr>
        <p:spPr>
          <a:xfrm>
            <a:off x="1016000" y="5473700"/>
            <a:ext cx="10160000" cy="53340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Key point.  </a:t>
            </a:r>
            <a:pPr indent="0" marL="0">
              <a:buNone/>
            </a:pPr>
            <a:r>
              <a:rPr lang="en-US" sz="1300" dirty="0">
                <a:solidFill>
                  <a:srgbClr val="1F2A37"/>
                </a:solidFill>
                <a:latin typeface="Calibri" pitchFamily="34" charset="0"/>
                <a:ea typeface="Calibri" pitchFamily="34" charset="-122"/>
                <a:cs typeface="Calibri" pitchFamily="34" charset="-120"/>
              </a:rPr>
              <a:t>Training tricks do not bring back information; LA-ResNet trades a small loss for one deployable model.</a:t>
            </a:r>
            <a:endParaRPr lang="en-US" sz="1300" dirty="0"/>
          </a:p>
        </p:txBody>
      </p:sp>
      <p:sp>
        <p:nvSpPr>
          <p:cNvPr id="14" name="Text 11"/>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Paired seed-ensemble bootstrap; Holm correction over 29 comparisons</a:t>
            </a:r>
            <a:endParaRPr lang="en-US" sz="1200" dirty="0"/>
          </a:p>
        </p:txBody>
      </p:sp>
      <p:sp>
        <p:nvSpPr>
          <p:cNvPr id="15" name="Text 12"/>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RESULTS · RQ3 · LABELS, PRE-TRAINING, NOISE</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The bottleneck is information, not data</a:t>
            </a:r>
            <a:endParaRPr lang="en-US" sz="2800" dirty="0"/>
          </a:p>
        </p:txBody>
      </p:sp>
      <p:pic>
        <p:nvPicPr>
          <p:cNvPr id="4" name="Image 0" descr="/mnt/user-data/uploads/NTU/NTU 6204/BS6204_Project_ECG/results/summary/paper_figs/figE_label_efficiency.png">    </p:cNvPr>
          <p:cNvPicPr>
            <a:picLocks noChangeAspect="1"/>
          </p:cNvPicPr>
          <p:nvPr/>
        </p:nvPicPr>
        <p:blipFill>
          <a:blip r:embed="rId1"/>
          <a:stretch>
            <a:fillRect/>
          </a:stretch>
        </p:blipFill>
        <p:spPr>
          <a:xfrm>
            <a:off x="2677341" y="1498600"/>
            <a:ext cx="6837317" cy="2794000"/>
          </a:xfrm>
          <a:prstGeom prst="rect">
            <a:avLst/>
          </a:prstGeom>
        </p:spPr>
      </p:pic>
      <p:sp>
        <p:nvSpPr>
          <p:cNvPr id="5" name="Shape 2"/>
          <p:cNvSpPr/>
          <p:nvPr/>
        </p:nvSpPr>
        <p:spPr>
          <a:xfrm>
            <a:off x="812800" y="4445000"/>
            <a:ext cx="3403600" cy="1524000"/>
          </a:xfrm>
          <a:prstGeom prst="rect">
            <a:avLst/>
          </a:prstGeom>
          <a:solidFill>
            <a:srgbClr val="F4F5F7"/>
          </a:solidFill>
          <a:ln/>
        </p:spPr>
      </p:sp>
      <p:sp>
        <p:nvSpPr>
          <p:cNvPr id="6" name="Text 3"/>
          <p:cNvSpPr txBox="1"/>
          <p:nvPr/>
        </p:nvSpPr>
        <p:spPr>
          <a:xfrm>
            <a:off x="1003300" y="4610100"/>
            <a:ext cx="3022600" cy="266700"/>
          </a:xfrm>
          <a:prstGeom prst="rect">
            <a:avLst/>
          </a:prstGeom>
          <a:noFill/>
          <a:ln/>
        </p:spPr>
        <p:txBody>
          <a:bodyPr wrap="square" lIns="0" tIns="0" rIns="0" bIns="0" rtlCol="0" anchor="t"/>
          <a:lstStyle/>
          <a:p>
            <a:pPr indent="0" marL="0">
              <a:buNone/>
            </a:pPr>
            <a:r>
              <a:rPr lang="en-US" sz="1400" b="1" dirty="0">
                <a:solidFill>
                  <a:srgbClr val="1F3A5F"/>
                </a:solidFill>
                <a:latin typeface="Calibri" pitchFamily="34" charset="0"/>
                <a:ea typeface="Calibri" pitchFamily="34" charset="-122"/>
                <a:cs typeface="Calibri" pitchFamily="34" charset="-120"/>
              </a:rPr>
              <a:t>10× labels: +0.023</a:t>
            </a:r>
            <a:endParaRPr lang="en-US" sz="1400" dirty="0"/>
          </a:p>
        </p:txBody>
      </p:sp>
      <p:sp>
        <p:nvSpPr>
          <p:cNvPr id="7" name="Text 4"/>
          <p:cNvSpPr txBox="1"/>
          <p:nvPr/>
        </p:nvSpPr>
        <p:spPr>
          <a:xfrm>
            <a:off x="1003300" y="4940300"/>
            <a:ext cx="3022600" cy="9525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on lead I; 12 leads with 10% of labels (0.881) beat lead I with all (0.835)</a:t>
            </a:r>
            <a:endParaRPr lang="en-US" sz="1200" dirty="0"/>
          </a:p>
        </p:txBody>
      </p:sp>
      <p:sp>
        <p:nvSpPr>
          <p:cNvPr id="8" name="Shape 5"/>
          <p:cNvSpPr/>
          <p:nvPr/>
        </p:nvSpPr>
        <p:spPr>
          <a:xfrm>
            <a:off x="4394200" y="4445000"/>
            <a:ext cx="3403600" cy="1524000"/>
          </a:xfrm>
          <a:prstGeom prst="rect">
            <a:avLst/>
          </a:prstGeom>
          <a:solidFill>
            <a:srgbClr val="EAF2F2"/>
          </a:solidFill>
          <a:ln/>
        </p:spPr>
      </p:sp>
      <p:sp>
        <p:nvSpPr>
          <p:cNvPr id="9" name="Text 6"/>
          <p:cNvSpPr txBox="1"/>
          <p:nvPr/>
        </p:nvSpPr>
        <p:spPr>
          <a:xfrm>
            <a:off x="4584700" y="4610100"/>
            <a:ext cx="3022600" cy="266700"/>
          </a:xfrm>
          <a:prstGeom prst="rect">
            <a:avLst/>
          </a:prstGeom>
          <a:noFill/>
          <a:ln/>
        </p:spPr>
        <p:txBody>
          <a:bodyPr wrap="square" lIns="0" tIns="0" rIns="0" bIns="0" rtlCol="0" anchor="t"/>
          <a:lstStyle/>
          <a:p>
            <a:pPr indent="0" marL="0">
              <a:buNone/>
            </a:pPr>
            <a:r>
              <a:rPr lang="en-US" sz="1400" b="1" dirty="0">
                <a:solidFill>
                  <a:srgbClr val="1F3A5F"/>
                </a:solidFill>
                <a:latin typeface="Calibri" pitchFamily="34" charset="0"/>
                <a:ea typeface="Calibri" pitchFamily="34" charset="-122"/>
                <a:cs typeface="Calibri" pitchFamily="34" charset="-120"/>
              </a:rPr>
              <a:t>Self-supervised: +0.015</a:t>
            </a:r>
            <a:endParaRPr lang="en-US" sz="1400" dirty="0"/>
          </a:p>
        </p:txBody>
      </p:sp>
      <p:sp>
        <p:nvSpPr>
          <p:cNvPr id="10" name="Text 7"/>
          <p:cNvSpPr txBox="1"/>
          <p:nvPr/>
        </p:nvSpPr>
        <p:spPr>
          <a:xfrm>
            <a:off x="4584700" y="4940300"/>
            <a:ext cx="3022600" cy="9525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ECG-ViT, lead I, 10% labels (95% CI +0.009 to +0.021); levels with ResNet1d, does not beat it</a:t>
            </a:r>
            <a:endParaRPr lang="en-US" sz="1200" dirty="0"/>
          </a:p>
        </p:txBody>
      </p:sp>
      <p:sp>
        <p:nvSpPr>
          <p:cNvPr id="11" name="Shape 8"/>
          <p:cNvSpPr/>
          <p:nvPr/>
        </p:nvSpPr>
        <p:spPr>
          <a:xfrm>
            <a:off x="7975600" y="4445000"/>
            <a:ext cx="3403600" cy="1524000"/>
          </a:xfrm>
          <a:prstGeom prst="rect">
            <a:avLst/>
          </a:prstGeom>
          <a:solidFill>
            <a:srgbClr val="F6EAE7"/>
          </a:solidFill>
          <a:ln/>
        </p:spPr>
      </p:sp>
      <p:sp>
        <p:nvSpPr>
          <p:cNvPr id="12" name="Text 9"/>
          <p:cNvSpPr txBox="1"/>
          <p:nvPr/>
        </p:nvSpPr>
        <p:spPr>
          <a:xfrm>
            <a:off x="8166100" y="4610100"/>
            <a:ext cx="3022600" cy="266700"/>
          </a:xfrm>
          <a:prstGeom prst="rect">
            <a:avLst/>
          </a:prstGeom>
          <a:noFill/>
          <a:ln/>
        </p:spPr>
        <p:txBody>
          <a:bodyPr wrap="square" lIns="0" tIns="0" rIns="0" bIns="0" rtlCol="0" anchor="t"/>
          <a:lstStyle/>
          <a:p>
            <a:pPr indent="0" marL="0">
              <a:buNone/>
            </a:pPr>
            <a:r>
              <a:rPr lang="en-US" sz="1400" b="1" dirty="0">
                <a:solidFill>
                  <a:srgbClr val="1F3A5F"/>
                </a:solidFill>
                <a:latin typeface="Calibri" pitchFamily="34" charset="0"/>
                <a:ea typeface="Calibri" pitchFamily="34" charset="-122"/>
                <a:cs typeface="Calibri" pitchFamily="34" charset="-120"/>
              </a:rPr>
              <a:t>Noise flips the ranking</a:t>
            </a:r>
            <a:endParaRPr lang="en-US" sz="1400" dirty="0"/>
          </a:p>
        </p:txBody>
      </p:sp>
      <p:sp>
        <p:nvSpPr>
          <p:cNvPr id="13" name="Text 10"/>
          <p:cNvSpPr txBox="1"/>
          <p:nvPr/>
        </p:nvSpPr>
        <p:spPr>
          <a:xfrm>
            <a:off x="8166100" y="4940300"/>
            <a:ext cx="3022600" cy="9525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lead I at 0 dB: ResNet1d 0.759, CNN-BiLSTM 0.686 (clean: 0.835 vs 0.838)</a:t>
            </a:r>
            <a:endParaRPr lang="en-US" sz="1200" dirty="0"/>
          </a:p>
        </p:txBody>
      </p:sp>
      <p:sp>
        <p:nvSpPr>
          <p:cNvPr id="14" name="Text 11"/>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Label-efficiency points seed 0; ECG-ViT 10% points mean of 3 seeds</a:t>
            </a:r>
            <a:endParaRPr lang="en-US" sz="1200" dirty="0"/>
          </a:p>
        </p:txBody>
      </p:sp>
      <p:sp>
        <p:nvSpPr>
          <p:cNvPr id="15" name="Text 12"/>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RESULTS · RQ3 · TRIAGE AND EXTERNAL HOSPITAL</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Triage travels; thresholds need recalibration</a:t>
            </a:r>
            <a:endParaRPr lang="en-US" sz="2800" dirty="0"/>
          </a:p>
        </p:txBody>
      </p:sp>
      <p:pic>
        <p:nvPicPr>
          <p:cNvPr id="4" name="Image 0" descr="/mnt/user-data/uploads/NTU/NTU 6204/BS6204_Project_ECG/results/summary/paper_figs/figF_triage_external.png">    </p:cNvPr>
          <p:cNvPicPr>
            <a:picLocks noChangeAspect="1"/>
          </p:cNvPicPr>
          <p:nvPr/>
        </p:nvPicPr>
        <p:blipFill>
          <a:blip r:embed="rId1"/>
          <a:stretch>
            <a:fillRect/>
          </a:stretch>
        </p:blipFill>
        <p:spPr>
          <a:xfrm>
            <a:off x="812800" y="1570623"/>
            <a:ext cx="5842000" cy="3665953"/>
          </a:xfrm>
          <a:prstGeom prst="rect">
            <a:avLst/>
          </a:prstGeom>
        </p:spPr>
      </p:pic>
      <p:sp>
        <p:nvSpPr>
          <p:cNvPr id="5" name="Shape 2"/>
          <p:cNvSpPr/>
          <p:nvPr/>
        </p:nvSpPr>
        <p:spPr>
          <a:xfrm>
            <a:off x="6934200" y="1778000"/>
            <a:ext cx="330200" cy="330200"/>
          </a:xfrm>
          <a:prstGeom prst="ellipse">
            <a:avLst/>
          </a:prstGeom>
          <a:solidFill>
            <a:srgbClr val="A23B2A"/>
          </a:solidFill>
          <a:ln/>
        </p:spPr>
      </p:sp>
      <p:sp>
        <p:nvSpPr>
          <p:cNvPr id="6" name="Text 3"/>
          <p:cNvSpPr txBox="1"/>
          <p:nvPr/>
        </p:nvSpPr>
        <p:spPr>
          <a:xfrm>
            <a:off x="6934200" y="17780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7416800" y="1790700"/>
            <a:ext cx="39624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Lead I triage: AUROC 0.88</a:t>
            </a:r>
            <a:endParaRPr lang="en-US" sz="1400" dirty="0"/>
          </a:p>
        </p:txBody>
      </p:sp>
      <p:sp>
        <p:nvSpPr>
          <p:cNvPr id="8" name="Text 5"/>
          <p:cNvSpPr txBox="1"/>
          <p:nvPr/>
        </p:nvSpPr>
        <p:spPr>
          <a:xfrm>
            <a:off x="7416800" y="2057400"/>
            <a:ext cx="3962400" cy="508000"/>
          </a:xfrm>
          <a:prstGeom prst="rect">
            <a:avLst/>
          </a:prstGeom>
          <a:noFill/>
          <a:ln/>
        </p:spPr>
        <p:txBody>
          <a:bodyPr wrap="square" lIns="0" tIns="0" rIns="0" bIns="0" rtlCol="0" anchor="t"/>
          <a:lstStyle/>
          <a:p>
            <a:pPr indent="0" marL="0">
              <a:lnSpc>
                <a:spcPct val="105000"/>
              </a:lnSpc>
              <a:buNone/>
            </a:pPr>
            <a:r>
              <a:rPr lang="en-US" sz="1200" dirty="0">
                <a:solidFill>
                  <a:srgbClr val="5B6675"/>
                </a:solidFill>
                <a:latin typeface="Calibri" pitchFamily="34" charset="0"/>
                <a:ea typeface="Calibri" pitchFamily="34" charset="-122"/>
                <a:cs typeface="Calibri" pitchFamily="34" charset="-120"/>
              </a:rPr>
              <a:t>sensitivity 0.71 at 90% specificity, below the 0.80 needed to screen</a:t>
            </a:r>
            <a:endParaRPr lang="en-US" sz="1200" dirty="0"/>
          </a:p>
        </p:txBody>
      </p:sp>
      <p:sp>
        <p:nvSpPr>
          <p:cNvPr id="9" name="Shape 6"/>
          <p:cNvSpPr/>
          <p:nvPr/>
        </p:nvSpPr>
        <p:spPr>
          <a:xfrm>
            <a:off x="6934200" y="2857500"/>
            <a:ext cx="330200" cy="330200"/>
          </a:xfrm>
          <a:prstGeom prst="ellipse">
            <a:avLst/>
          </a:prstGeom>
          <a:solidFill>
            <a:srgbClr val="2F6F73"/>
          </a:solidFill>
          <a:ln/>
        </p:spPr>
      </p:sp>
      <p:sp>
        <p:nvSpPr>
          <p:cNvPr id="10" name="Text 7"/>
          <p:cNvSpPr txBox="1"/>
          <p:nvPr/>
        </p:nvSpPr>
        <p:spPr>
          <a:xfrm>
            <a:off x="6934200" y="28575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txBox="1"/>
          <p:nvPr/>
        </p:nvSpPr>
        <p:spPr>
          <a:xfrm>
            <a:off x="7416800" y="2870200"/>
            <a:ext cx="39624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Chapman, 34,815 ECGs</a:t>
            </a:r>
            <a:endParaRPr lang="en-US" sz="1400" dirty="0"/>
          </a:p>
        </p:txBody>
      </p:sp>
      <p:sp>
        <p:nvSpPr>
          <p:cNvPr id="12" name="Text 9"/>
          <p:cNvSpPr txBox="1"/>
          <p:nvPr/>
        </p:nvSpPr>
        <p:spPr>
          <a:xfrm>
            <a:off x="7416800" y="3136900"/>
            <a:ext cx="3962400" cy="508000"/>
          </a:xfrm>
          <a:prstGeom prst="rect">
            <a:avLst/>
          </a:prstGeom>
          <a:noFill/>
          <a:ln/>
        </p:spPr>
        <p:txBody>
          <a:bodyPr wrap="square" lIns="0" tIns="0" rIns="0" bIns="0" rtlCol="0" anchor="t"/>
          <a:lstStyle/>
          <a:p>
            <a:pPr indent="0" marL="0">
              <a:lnSpc>
                <a:spcPct val="105000"/>
              </a:lnSpc>
              <a:buNone/>
            </a:pPr>
            <a:r>
              <a:rPr lang="en-US" sz="1200" dirty="0">
                <a:solidFill>
                  <a:srgbClr val="5B6675"/>
                </a:solidFill>
                <a:latin typeface="Calibri" pitchFamily="34" charset="0"/>
                <a:ea typeface="Calibri" pitchFamily="34" charset="-122"/>
                <a:cs typeface="Calibri" pitchFamily="34" charset="-120"/>
              </a:rPr>
              <a:t>frozen models 0.955 (12 leads) and 0.916 (lead I); 0.936–0.957 and 0.875–0.916 across label mappings</a:t>
            </a:r>
            <a:endParaRPr lang="en-US" sz="1200" dirty="0"/>
          </a:p>
        </p:txBody>
      </p:sp>
      <p:sp>
        <p:nvSpPr>
          <p:cNvPr id="13" name="Shape 10"/>
          <p:cNvSpPr/>
          <p:nvPr/>
        </p:nvSpPr>
        <p:spPr>
          <a:xfrm>
            <a:off x="6934200" y="4127500"/>
            <a:ext cx="330200" cy="330200"/>
          </a:xfrm>
          <a:prstGeom prst="ellipse">
            <a:avLst/>
          </a:prstGeom>
          <a:solidFill>
            <a:srgbClr val="1F3A5F"/>
          </a:solidFill>
          <a:ln/>
        </p:spPr>
      </p:sp>
      <p:sp>
        <p:nvSpPr>
          <p:cNvPr id="14" name="Text 11"/>
          <p:cNvSpPr txBox="1"/>
          <p:nvPr/>
        </p:nvSpPr>
        <p:spPr>
          <a:xfrm>
            <a:off x="6934200" y="41275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txBox="1"/>
          <p:nvPr/>
        </p:nvSpPr>
        <p:spPr>
          <a:xfrm>
            <a:off x="7416800" y="4140200"/>
            <a:ext cx="3962400" cy="254000"/>
          </a:xfrm>
          <a:prstGeom prst="rect">
            <a:avLst/>
          </a:prstGeom>
          <a:noFill/>
          <a:ln/>
        </p:spPr>
        <p:txBody>
          <a:bodyPr wrap="square" lIns="0" tIns="0" rIns="0" bIns="0" rtlCol="0" anchor="t"/>
          <a:lstStyle/>
          <a:p>
            <a:pPr indent="0" marL="0">
              <a:buNone/>
            </a:pPr>
            <a:r>
              <a:rPr lang="en-US" sz="1400" b="1" dirty="0">
                <a:solidFill>
                  <a:srgbClr val="1F2A37"/>
                </a:solidFill>
                <a:latin typeface="Calibri" pitchFamily="34" charset="0"/>
                <a:ea typeface="Calibri" pitchFamily="34" charset="-122"/>
                <a:cs typeface="Calibri" pitchFamily="34" charset="-120"/>
              </a:rPr>
              <a:t>Thresholds shift</a:t>
            </a:r>
            <a:endParaRPr lang="en-US" sz="1400" dirty="0"/>
          </a:p>
        </p:txBody>
      </p:sp>
      <p:sp>
        <p:nvSpPr>
          <p:cNvPr id="16" name="Text 13"/>
          <p:cNvSpPr txBox="1"/>
          <p:nvPr/>
        </p:nvSpPr>
        <p:spPr>
          <a:xfrm>
            <a:off x="7416800" y="4406900"/>
            <a:ext cx="3962400" cy="508000"/>
          </a:xfrm>
          <a:prstGeom prst="rect">
            <a:avLst/>
          </a:prstGeom>
          <a:noFill/>
          <a:ln/>
        </p:spPr>
        <p:txBody>
          <a:bodyPr wrap="square" lIns="0" tIns="0" rIns="0" bIns="0" rtlCol="0" anchor="t"/>
          <a:lstStyle/>
          <a:p>
            <a:pPr indent="0" marL="0">
              <a:lnSpc>
                <a:spcPct val="105000"/>
              </a:lnSpc>
              <a:buNone/>
            </a:pPr>
            <a:r>
              <a:rPr lang="en-US" sz="1200" dirty="0">
                <a:solidFill>
                  <a:srgbClr val="5B6675"/>
                </a:solidFill>
                <a:latin typeface="Calibri" pitchFamily="34" charset="0"/>
                <a:ea typeface="Calibri" pitchFamily="34" charset="-122"/>
                <a:cs typeface="Calibri" pitchFamily="34" charset="-120"/>
              </a:rPr>
              <a:t>PTB-XL thresholds gave 86–90% external specificity</a:t>
            </a:r>
            <a:endParaRPr lang="en-US" sz="1200" dirty="0"/>
          </a:p>
        </p:txBody>
      </p:sp>
      <p:sp>
        <p:nvSpPr>
          <p:cNvPr id="17" name="Shape 14"/>
          <p:cNvSpPr/>
          <p:nvPr/>
        </p:nvSpPr>
        <p:spPr>
          <a:xfrm>
            <a:off x="812800" y="5473700"/>
            <a:ext cx="10566400" cy="533400"/>
          </a:xfrm>
          <a:prstGeom prst="rect">
            <a:avLst/>
          </a:prstGeom>
          <a:solidFill>
            <a:srgbClr val="F4F5F7"/>
          </a:solidFill>
          <a:ln/>
        </p:spPr>
      </p:sp>
      <p:sp>
        <p:nvSpPr>
          <p:cNvPr id="18" name="Text 15"/>
          <p:cNvSpPr txBox="1"/>
          <p:nvPr/>
        </p:nvSpPr>
        <p:spPr>
          <a:xfrm>
            <a:off x="1016000" y="5473700"/>
            <a:ext cx="10160000" cy="53340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Key point.  </a:t>
            </a:r>
            <a:pPr indent="0" marL="0">
              <a:buNone/>
            </a:pPr>
            <a:r>
              <a:rPr lang="en-US" sz="1300" dirty="0">
                <a:solidFill>
                  <a:srgbClr val="1F2A37"/>
                </a:solidFill>
                <a:latin typeface="Calibri" pitchFamily="34" charset="0"/>
                <a:ea typeface="Calibri" pitchFamily="34" charset="-122"/>
                <a:cs typeface="Calibri" pitchFamily="34" charset="-120"/>
              </a:rPr>
              <a:t>Higher external AUROC reflects a stricter external label set, not better generalisation; deployment needs local calibration.</a:t>
            </a:r>
            <a:endParaRPr lang="en-US" sz="1300" dirty="0"/>
          </a:p>
        </p:txBody>
      </p:sp>
      <p:sp>
        <p:nvSpPr>
          <p:cNvPr id="19" name="Text 16"/>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External target: strict sinus-rhythm negatives, mapped diagnoses only (v2 mapping)</a:t>
            </a:r>
            <a:endParaRPr lang="en-US" sz="1200" dirty="0"/>
          </a:p>
        </p:txBody>
      </p:sp>
      <p:sp>
        <p:nvSpPr>
          <p:cNvPr id="20" name="Text 17"/>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Twelve to one is too far for diagnosis</a:t>
            </a:r>
            <a:endParaRPr lang="en-US" sz="2800" dirty="0"/>
          </a:p>
        </p:txBody>
      </p:sp>
      <p:sp>
        <p:nvSpPr>
          <p:cNvPr id="4" name="Shape 2"/>
          <p:cNvSpPr/>
          <p:nvPr/>
        </p:nvSpPr>
        <p:spPr>
          <a:xfrm>
            <a:off x="812800" y="1587500"/>
            <a:ext cx="5194300" cy="1803400"/>
          </a:xfrm>
          <a:prstGeom prst="rect">
            <a:avLst/>
          </a:prstGeom>
          <a:solidFill>
            <a:srgbClr val="FFFFFF"/>
          </a:solidFill>
          <a:ln w="19050">
            <a:solidFill>
              <a:srgbClr val="C3CAD3"/>
            </a:solidFill>
            <a:prstDash val="solid"/>
          </a:ln>
        </p:spPr>
      </p:sp>
      <p:sp>
        <p:nvSpPr>
          <p:cNvPr id="5" name="Shape 3"/>
          <p:cNvSpPr/>
          <p:nvPr/>
        </p:nvSpPr>
        <p:spPr>
          <a:xfrm>
            <a:off x="1041400" y="1816100"/>
            <a:ext cx="330200" cy="330200"/>
          </a:xfrm>
          <a:prstGeom prst="ellipse">
            <a:avLst/>
          </a:prstGeom>
          <a:solidFill>
            <a:srgbClr val="1F3A5F"/>
          </a:solidFill>
          <a:ln/>
        </p:spPr>
      </p:sp>
      <p:sp>
        <p:nvSpPr>
          <p:cNvPr id="6" name="Text 4"/>
          <p:cNvSpPr txBox="1"/>
          <p:nvPr/>
        </p:nvSpPr>
        <p:spPr>
          <a:xfrm>
            <a:off x="1041400" y="18161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524000" y="1828800"/>
            <a:ext cx="4254500" cy="3048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A rule, not an average</a:t>
            </a:r>
            <a:endParaRPr lang="en-US" sz="1500" dirty="0"/>
          </a:p>
        </p:txBody>
      </p:sp>
      <p:sp>
        <p:nvSpPr>
          <p:cNvPr id="8" name="Text 6"/>
          <p:cNvSpPr txBox="1"/>
          <p:nvPr/>
        </p:nvSpPr>
        <p:spPr>
          <a:xfrm>
            <a:off x="1524000" y="2197100"/>
            <a:ext cx="4254500" cy="1079500"/>
          </a:xfrm>
          <a:prstGeom prst="rect">
            <a:avLst/>
          </a:prstGeom>
          <a:noFill/>
          <a:ln/>
        </p:spPr>
        <p:txBody>
          <a:bodyPr wrap="square" lIns="0" tIns="0" rIns="0" bIns="0" rtlCol="0" anchor="t"/>
          <a:lstStyle/>
          <a:p>
            <a:pPr indent="0" marL="0">
              <a:lnSpc>
                <a:spcPct val="105000"/>
              </a:lnSpc>
              <a:buNone/>
            </a:pPr>
            <a:r>
              <a:rPr lang="en-US" sz="1200" dirty="0">
                <a:solidFill>
                  <a:srgbClr val="5B6675"/>
                </a:solidFill>
                <a:latin typeface="Calibri" pitchFamily="34" charset="0"/>
                <a:ea typeface="Calibri" pitchFamily="34" charset="-122"/>
                <a:cs typeface="Calibri" pitchFamily="34" charset="-120"/>
              </a:rPr>
              <a:t>pre-specified screen rule per diagnosis: 29 of 30 cells fail; only STTC with chest leads passes</a:t>
            </a:r>
            <a:endParaRPr lang="en-US" sz="1200" dirty="0"/>
          </a:p>
        </p:txBody>
      </p:sp>
      <p:sp>
        <p:nvSpPr>
          <p:cNvPr id="9" name="Shape 7"/>
          <p:cNvSpPr/>
          <p:nvPr/>
        </p:nvSpPr>
        <p:spPr>
          <a:xfrm>
            <a:off x="6184900" y="1587500"/>
            <a:ext cx="5194300" cy="1803400"/>
          </a:xfrm>
          <a:prstGeom prst="rect">
            <a:avLst/>
          </a:prstGeom>
          <a:solidFill>
            <a:srgbClr val="FFFFFF"/>
          </a:solidFill>
          <a:ln w="19050">
            <a:solidFill>
              <a:srgbClr val="C3CAD3"/>
            </a:solidFill>
            <a:prstDash val="solid"/>
          </a:ln>
        </p:spPr>
      </p:sp>
      <p:sp>
        <p:nvSpPr>
          <p:cNvPr id="10" name="Shape 8"/>
          <p:cNvSpPr/>
          <p:nvPr/>
        </p:nvSpPr>
        <p:spPr>
          <a:xfrm>
            <a:off x="6413500" y="1816100"/>
            <a:ext cx="330200" cy="330200"/>
          </a:xfrm>
          <a:prstGeom prst="ellipse">
            <a:avLst/>
          </a:prstGeom>
          <a:solidFill>
            <a:srgbClr val="A23B2A"/>
          </a:solidFill>
          <a:ln/>
        </p:spPr>
      </p:sp>
      <p:sp>
        <p:nvSpPr>
          <p:cNvPr id="11" name="Text 9"/>
          <p:cNvSpPr txBox="1"/>
          <p:nvPr/>
        </p:nvSpPr>
        <p:spPr>
          <a:xfrm>
            <a:off x="6413500" y="18161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6896100" y="1828800"/>
            <a:ext cx="4254500" cy="3048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One model, six lead sets</a:t>
            </a:r>
            <a:endParaRPr lang="en-US" sz="1500" dirty="0"/>
          </a:p>
        </p:txBody>
      </p:sp>
      <p:sp>
        <p:nvSpPr>
          <p:cNvPr id="13" name="Text 11"/>
          <p:cNvSpPr txBox="1"/>
          <p:nvPr/>
        </p:nvSpPr>
        <p:spPr>
          <a:xfrm>
            <a:off x="6896100" y="2197100"/>
            <a:ext cx="4254500" cy="1079500"/>
          </a:xfrm>
          <a:prstGeom prst="rect">
            <a:avLst/>
          </a:prstGeom>
          <a:noFill/>
          <a:ln/>
        </p:spPr>
        <p:txBody>
          <a:bodyPr wrap="square" lIns="0" tIns="0" rIns="0" bIns="0" rtlCol="0" anchor="t"/>
          <a:lstStyle/>
          <a:p>
            <a:pPr indent="0" marL="0">
              <a:lnSpc>
                <a:spcPct val="105000"/>
              </a:lnSpc>
              <a:buNone/>
            </a:pPr>
            <a:r>
              <a:rPr lang="en-US" sz="1200" dirty="0">
                <a:solidFill>
                  <a:srgbClr val="5B6675"/>
                </a:solidFill>
                <a:latin typeface="Calibri" pitchFamily="34" charset="0"/>
                <a:ea typeface="Calibri" pitchFamily="34" charset="-122"/>
                <a:cs typeface="Calibri" pitchFamily="34" charset="-120"/>
              </a:rPr>
              <a:t>LA-ResNet with lead masks costs only 0.003–0.010 AUROC</a:t>
            </a:r>
            <a:endParaRPr lang="en-US" sz="1200" dirty="0"/>
          </a:p>
        </p:txBody>
      </p:sp>
      <p:sp>
        <p:nvSpPr>
          <p:cNvPr id="14" name="Shape 12"/>
          <p:cNvSpPr/>
          <p:nvPr/>
        </p:nvSpPr>
        <p:spPr>
          <a:xfrm>
            <a:off x="812800" y="3543300"/>
            <a:ext cx="5194300" cy="1803400"/>
          </a:xfrm>
          <a:prstGeom prst="rect">
            <a:avLst/>
          </a:prstGeom>
          <a:solidFill>
            <a:srgbClr val="FFFFFF"/>
          </a:solidFill>
          <a:ln w="19050">
            <a:solidFill>
              <a:srgbClr val="C3CAD3"/>
            </a:solidFill>
            <a:prstDash val="solid"/>
          </a:ln>
        </p:spPr>
      </p:sp>
      <p:sp>
        <p:nvSpPr>
          <p:cNvPr id="15" name="Shape 13"/>
          <p:cNvSpPr/>
          <p:nvPr/>
        </p:nvSpPr>
        <p:spPr>
          <a:xfrm>
            <a:off x="1041400" y="3771900"/>
            <a:ext cx="330200" cy="330200"/>
          </a:xfrm>
          <a:prstGeom prst="ellipse">
            <a:avLst/>
          </a:prstGeom>
          <a:solidFill>
            <a:srgbClr val="2F6F73"/>
          </a:solidFill>
          <a:ln/>
        </p:spPr>
      </p:sp>
      <p:sp>
        <p:nvSpPr>
          <p:cNvPr id="16" name="Text 14"/>
          <p:cNvSpPr txBox="1"/>
          <p:nvPr/>
        </p:nvSpPr>
        <p:spPr>
          <a:xfrm>
            <a:off x="1041400" y="37719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524000" y="3784600"/>
            <a:ext cx="4254500" cy="3048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Information is the bottleneck</a:t>
            </a:r>
            <a:endParaRPr lang="en-US" sz="1500" dirty="0"/>
          </a:p>
        </p:txBody>
      </p:sp>
      <p:sp>
        <p:nvSpPr>
          <p:cNvPr id="18" name="Text 16"/>
          <p:cNvSpPr txBox="1"/>
          <p:nvPr/>
        </p:nvSpPr>
        <p:spPr>
          <a:xfrm>
            <a:off x="1524000" y="4152900"/>
            <a:ext cx="4254500" cy="1079500"/>
          </a:xfrm>
          <a:prstGeom prst="rect">
            <a:avLst/>
          </a:prstGeom>
          <a:noFill/>
          <a:ln/>
        </p:spPr>
        <p:txBody>
          <a:bodyPr wrap="square" lIns="0" tIns="0" rIns="0" bIns="0" rtlCol="0" anchor="t"/>
          <a:lstStyle/>
          <a:p>
            <a:pPr indent="0" marL="0">
              <a:lnSpc>
                <a:spcPct val="105000"/>
              </a:lnSpc>
              <a:buNone/>
            </a:pPr>
            <a:r>
              <a:rPr lang="en-US" sz="1200" dirty="0">
                <a:solidFill>
                  <a:srgbClr val="5B6675"/>
                </a:solidFill>
                <a:latin typeface="Calibri" pitchFamily="34" charset="0"/>
                <a:ea typeface="Calibri" pitchFamily="34" charset="-122"/>
                <a:cs typeface="Calibri" pitchFamily="34" charset="-120"/>
              </a:rPr>
              <a:t>transfer and 10× labels barely help lead I; self-supervision helps the Transformer</a:t>
            </a:r>
            <a:endParaRPr lang="en-US" sz="1200" dirty="0"/>
          </a:p>
        </p:txBody>
      </p:sp>
      <p:sp>
        <p:nvSpPr>
          <p:cNvPr id="19" name="Shape 17"/>
          <p:cNvSpPr/>
          <p:nvPr/>
        </p:nvSpPr>
        <p:spPr>
          <a:xfrm>
            <a:off x="6184900" y="3543300"/>
            <a:ext cx="5194300" cy="1803400"/>
          </a:xfrm>
          <a:prstGeom prst="rect">
            <a:avLst/>
          </a:prstGeom>
          <a:solidFill>
            <a:srgbClr val="F4F5F7"/>
          </a:solidFill>
          <a:ln/>
        </p:spPr>
      </p:sp>
      <p:sp>
        <p:nvSpPr>
          <p:cNvPr id="20" name="Shape 18"/>
          <p:cNvSpPr/>
          <p:nvPr/>
        </p:nvSpPr>
        <p:spPr>
          <a:xfrm>
            <a:off x="6413500" y="3771900"/>
            <a:ext cx="330200" cy="330200"/>
          </a:xfrm>
          <a:prstGeom prst="ellipse">
            <a:avLst/>
          </a:prstGeom>
          <a:solidFill>
            <a:srgbClr val="5B6675"/>
          </a:solidFill>
          <a:ln/>
        </p:spPr>
      </p:sp>
      <p:sp>
        <p:nvSpPr>
          <p:cNvPr id="21" name="Text 19"/>
          <p:cNvSpPr txBox="1"/>
          <p:nvPr/>
        </p:nvSpPr>
        <p:spPr>
          <a:xfrm>
            <a:off x="6413500" y="3771900"/>
            <a:ext cx="330200" cy="330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896100" y="3784600"/>
            <a:ext cx="4254500" cy="304800"/>
          </a:xfrm>
          <a:prstGeom prst="rect">
            <a:avLst/>
          </a:prstGeom>
          <a:noFill/>
          <a:ln/>
        </p:spPr>
        <p:txBody>
          <a:bodyPr wrap="square" lIns="0" tIns="0" rIns="0" bIns="0" rtlCol="0" anchor="t"/>
          <a:lstStyle/>
          <a:p>
            <a:pPr indent="0" marL="0">
              <a:buNone/>
            </a:pPr>
            <a:r>
              <a:rPr lang="en-US" sz="1500" b="1" dirty="0">
                <a:solidFill>
                  <a:srgbClr val="1F3A5F"/>
                </a:solidFill>
                <a:latin typeface="Cambria" pitchFamily="34" charset="0"/>
                <a:ea typeface="Cambria" pitchFamily="34" charset="-122"/>
                <a:cs typeface="Cambria" pitchFamily="34" charset="-120"/>
              </a:rPr>
              <a:t>Limitations and next steps</a:t>
            </a:r>
            <a:endParaRPr lang="en-US" sz="1500" dirty="0"/>
          </a:p>
        </p:txBody>
      </p:sp>
      <p:sp>
        <p:nvSpPr>
          <p:cNvPr id="23" name="Text 21"/>
          <p:cNvSpPr txBox="1"/>
          <p:nvPr/>
        </p:nvSpPr>
        <p:spPr>
          <a:xfrm>
            <a:off x="6896100" y="4152900"/>
            <a:ext cx="4254500" cy="1079500"/>
          </a:xfrm>
          <a:prstGeom prst="rect">
            <a:avLst/>
          </a:prstGeom>
          <a:noFill/>
          <a:ln/>
        </p:spPr>
        <p:txBody>
          <a:bodyPr wrap="square" lIns="0" tIns="0" rIns="0" bIns="0" rtlCol="0" anchor="t"/>
          <a:lstStyle/>
          <a:p>
            <a:pPr indent="0" marL="0">
              <a:lnSpc>
                <a:spcPct val="105000"/>
              </a:lnSpc>
              <a:buNone/>
            </a:pPr>
            <a:r>
              <a:rPr lang="en-US" sz="1200" dirty="0">
                <a:solidFill>
                  <a:srgbClr val="5B6675"/>
                </a:solidFill>
                <a:latin typeface="Calibri" pitchFamily="34" charset="0"/>
                <a:ea typeface="Calibri" pitchFamily="34" charset="-122"/>
                <a:cs typeface="Calibri" pitchFamily="34" charset="-120"/>
              </a:rPr>
              <a:t>clinical lead I, not a watch; one training set at 100 Hz; synthetic noise. Next: paired watch and 12-lead recordings</a:t>
            </a:r>
            <a:endParaRPr lang="en-US" sz="1200" dirty="0"/>
          </a:p>
        </p:txBody>
      </p:sp>
      <p:sp>
        <p:nvSpPr>
          <p:cNvPr id="24" name="Shape 22"/>
          <p:cNvSpPr/>
          <p:nvPr/>
        </p:nvSpPr>
        <p:spPr>
          <a:xfrm>
            <a:off x="812800" y="5473700"/>
            <a:ext cx="10566400" cy="533400"/>
          </a:xfrm>
          <a:prstGeom prst="rect">
            <a:avLst/>
          </a:prstGeom>
          <a:solidFill>
            <a:srgbClr val="F4F5F7"/>
          </a:solidFill>
          <a:ln/>
        </p:spPr>
      </p:sp>
      <p:sp>
        <p:nvSpPr>
          <p:cNvPr id="25" name="Text 23"/>
          <p:cNvSpPr txBox="1"/>
          <p:nvPr/>
        </p:nvSpPr>
        <p:spPr>
          <a:xfrm>
            <a:off x="1016000" y="5473700"/>
            <a:ext cx="10160000" cy="533400"/>
          </a:xfrm>
          <a:prstGeom prst="rect">
            <a:avLst/>
          </a:prstGeom>
          <a:noFill/>
          <a:ln/>
        </p:spPr>
        <p:txBody>
          <a:bodyPr wrap="square" lIns="0" tIns="0" rIns="0" bIns="0" rtlCol="0" anchor="ctr"/>
          <a:lstStyle/>
          <a:p>
            <a:pPr indent="0" marL="0">
              <a:buNone/>
            </a:pPr>
            <a:r>
              <a:rPr lang="en-US" sz="1300" b="1" dirty="0">
                <a:solidFill>
                  <a:srgbClr val="1F2A37"/>
                </a:solidFill>
                <a:latin typeface="Calibri" pitchFamily="34" charset="0"/>
                <a:ea typeface="Calibri" pitchFamily="34" charset="-122"/>
                <a:cs typeface="Calibri" pitchFamily="34" charset="-120"/>
              </a:rPr>
              <a:t>Key point.  </a:t>
            </a:r>
            <a:pPr indent="0" marL="0">
              <a:buNone/>
            </a:pPr>
            <a:r>
              <a:rPr lang="en-US" sz="1300" dirty="0">
                <a:solidFill>
                  <a:srgbClr val="1F2A37"/>
                </a:solidFill>
                <a:latin typeface="Calibri" pitchFamily="34" charset="0"/>
                <a:ea typeface="Calibri" pitchFamily="34" charset="-122"/>
                <a:cs typeface="Calibri" pitchFamily="34" charset="-120"/>
              </a:rPr>
              <a:t>A single lead can support triage, but cannot replace the 12-lead ECG for these five diagnoses.</a:t>
            </a:r>
            <a:endParaRPr lang="en-US" sz="1300" dirty="0"/>
          </a:p>
        </p:txBody>
      </p:sp>
      <p:sp>
        <p:nvSpPr>
          <p:cNvPr id="26" name="Text 24"/>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Thank you · questions welcome</a:t>
            </a:r>
            <a:endParaRPr lang="en-US" sz="1200" dirty="0"/>
          </a:p>
        </p:txBody>
      </p:sp>
      <p:sp>
        <p:nvSpPr>
          <p:cNvPr id="27" name="Text 25"/>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BACKUP · INTERPRETABILITY</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What the models look at, with caveats</a:t>
            </a:r>
            <a:endParaRPr lang="en-US" sz="2800" dirty="0"/>
          </a:p>
        </p:txBody>
      </p:sp>
      <p:pic>
        <p:nvPicPr>
          <p:cNvPr id="4" name="Image 0" descr="/mnt/user-data/uploads/NTU/NTU 6204/BS6204_Project_ECG/results/summary/paper_figs/figH_explainability.png">    </p:cNvPr>
          <p:cNvPicPr>
            <a:picLocks noChangeAspect="1"/>
          </p:cNvPicPr>
          <p:nvPr/>
        </p:nvPicPr>
        <p:blipFill>
          <a:blip r:embed="rId1"/>
          <a:stretch>
            <a:fillRect/>
          </a:stretch>
        </p:blipFill>
        <p:spPr>
          <a:xfrm>
            <a:off x="812800" y="1732053"/>
            <a:ext cx="5016500" cy="3647893"/>
          </a:xfrm>
          <a:prstGeom prst="rect">
            <a:avLst/>
          </a:prstGeom>
        </p:spPr>
      </p:pic>
      <p:sp>
        <p:nvSpPr>
          <p:cNvPr id="5" name="Shape 2"/>
          <p:cNvSpPr/>
          <p:nvPr/>
        </p:nvSpPr>
        <p:spPr>
          <a:xfrm>
            <a:off x="6108700" y="1587500"/>
            <a:ext cx="5270500" cy="1181100"/>
          </a:xfrm>
          <a:prstGeom prst="rect">
            <a:avLst/>
          </a:prstGeom>
          <a:solidFill>
            <a:srgbClr val="F4F5F7"/>
          </a:solidFill>
          <a:ln/>
        </p:spPr>
      </p:sp>
      <p:sp>
        <p:nvSpPr>
          <p:cNvPr id="6" name="Text 3"/>
          <p:cNvSpPr txBox="1"/>
          <p:nvPr/>
        </p:nvSpPr>
        <p:spPr>
          <a:xfrm>
            <a:off x="6299200" y="1765300"/>
            <a:ext cx="4889500" cy="279400"/>
          </a:xfrm>
          <a:prstGeom prst="rect">
            <a:avLst/>
          </a:prstGeom>
          <a:noFill/>
          <a:ln/>
        </p:spPr>
        <p:txBody>
          <a:bodyPr wrap="square" lIns="0" tIns="0" rIns="0" bIns="0" rtlCol="0" anchor="t"/>
          <a:lstStyle/>
          <a:p>
            <a:pPr indent="0" marL="0">
              <a:buNone/>
            </a:pPr>
            <a:r>
              <a:rPr lang="en-US" sz="1400" b="1" dirty="0">
                <a:solidFill>
                  <a:srgbClr val="1F3A5F"/>
                </a:solidFill>
                <a:latin typeface="Calibri" pitchFamily="34" charset="0"/>
                <a:ea typeface="Calibri" pitchFamily="34" charset="-122"/>
                <a:cs typeface="Calibri" pitchFamily="34" charset="-120"/>
              </a:rPr>
              <a:t>Grad-CAM is coarse</a:t>
            </a:r>
            <a:endParaRPr lang="en-US" sz="1400" dirty="0"/>
          </a:p>
        </p:txBody>
      </p:sp>
      <p:sp>
        <p:nvSpPr>
          <p:cNvPr id="7" name="Text 4"/>
          <p:cNvSpPr txBox="1"/>
          <p:nvPr/>
        </p:nvSpPr>
        <p:spPr>
          <a:xfrm>
            <a:off x="6299200" y="2095500"/>
            <a:ext cx="4889500" cy="5715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receptive field 1,291 samples &gt; input 1,000, so maps mark broad regions, not single waves</a:t>
            </a:r>
            <a:endParaRPr lang="en-US" sz="1200" dirty="0"/>
          </a:p>
        </p:txBody>
      </p:sp>
      <p:sp>
        <p:nvSpPr>
          <p:cNvPr id="8" name="Shape 5"/>
          <p:cNvSpPr/>
          <p:nvPr/>
        </p:nvSpPr>
        <p:spPr>
          <a:xfrm>
            <a:off x="6108700" y="2921000"/>
            <a:ext cx="5270500" cy="1181100"/>
          </a:xfrm>
          <a:prstGeom prst="rect">
            <a:avLst/>
          </a:prstGeom>
          <a:solidFill>
            <a:srgbClr val="F4F5F7"/>
          </a:solidFill>
          <a:ln/>
        </p:spPr>
      </p:sp>
      <p:sp>
        <p:nvSpPr>
          <p:cNvPr id="9" name="Text 6"/>
          <p:cNvSpPr txBox="1"/>
          <p:nvPr/>
        </p:nvSpPr>
        <p:spPr>
          <a:xfrm>
            <a:off x="6299200" y="3098800"/>
            <a:ext cx="4889500" cy="279400"/>
          </a:xfrm>
          <a:prstGeom prst="rect">
            <a:avLst/>
          </a:prstGeom>
          <a:noFill/>
          <a:ln/>
        </p:spPr>
        <p:txBody>
          <a:bodyPr wrap="square" lIns="0" tIns="0" rIns="0" bIns="0" rtlCol="0" anchor="t"/>
          <a:lstStyle/>
          <a:p>
            <a:pPr indent="0" marL="0">
              <a:buNone/>
            </a:pPr>
            <a:r>
              <a:rPr lang="en-US" sz="1400" b="1" dirty="0">
                <a:solidFill>
                  <a:srgbClr val="1F3A5F"/>
                </a:solidFill>
                <a:latin typeface="Calibri" pitchFamily="34" charset="0"/>
                <a:ea typeface="Calibri" pitchFamily="34" charset="-122"/>
                <a:cs typeface="Calibri" pitchFamily="34" charset="-120"/>
              </a:rPr>
              <a:t>Attention stripe</a:t>
            </a:r>
            <a:endParaRPr lang="en-US" sz="1400" dirty="0"/>
          </a:p>
        </p:txBody>
      </p:sp>
      <p:sp>
        <p:nvSpPr>
          <p:cNvPr id="10" name="Text 7"/>
          <p:cNvSpPr txBox="1"/>
          <p:nvPr/>
        </p:nvSpPr>
        <p:spPr>
          <a:xfrm>
            <a:off x="6299200" y="3429000"/>
            <a:ext cx="4889500" cy="5715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one key token draws most attention: likely an attention sink, not physiology</a:t>
            </a:r>
            <a:endParaRPr lang="en-US" sz="1200" dirty="0"/>
          </a:p>
        </p:txBody>
      </p:sp>
      <p:sp>
        <p:nvSpPr>
          <p:cNvPr id="11" name="Shape 8"/>
          <p:cNvSpPr/>
          <p:nvPr/>
        </p:nvSpPr>
        <p:spPr>
          <a:xfrm>
            <a:off x="6108700" y="4254500"/>
            <a:ext cx="5270500" cy="1181100"/>
          </a:xfrm>
          <a:prstGeom prst="rect">
            <a:avLst/>
          </a:prstGeom>
          <a:solidFill>
            <a:srgbClr val="F6EAE7"/>
          </a:solidFill>
          <a:ln/>
        </p:spPr>
      </p:sp>
      <p:sp>
        <p:nvSpPr>
          <p:cNvPr id="12" name="Text 9"/>
          <p:cNvSpPr txBox="1"/>
          <p:nvPr/>
        </p:nvSpPr>
        <p:spPr>
          <a:xfrm>
            <a:off x="6299200" y="4432300"/>
            <a:ext cx="4889500" cy="279400"/>
          </a:xfrm>
          <a:prstGeom prst="rect">
            <a:avLst/>
          </a:prstGeom>
          <a:noFill/>
          <a:ln/>
        </p:spPr>
        <p:txBody>
          <a:bodyPr wrap="square" lIns="0" tIns="0" rIns="0" bIns="0" rtlCol="0" anchor="t"/>
          <a:lstStyle/>
          <a:p>
            <a:pPr indent="0" marL="0">
              <a:buNone/>
            </a:pPr>
            <a:r>
              <a:rPr lang="en-US" sz="1400" b="1" dirty="0">
                <a:solidFill>
                  <a:srgbClr val="A23B2A"/>
                </a:solidFill>
                <a:latin typeface="Calibri" pitchFamily="34" charset="0"/>
                <a:ea typeface="Calibri" pitchFamily="34" charset="-122"/>
                <a:cs typeface="Calibri" pitchFamily="34" charset="-120"/>
              </a:rPr>
              <a:t>Illustrative only</a:t>
            </a:r>
            <a:endParaRPr lang="en-US" sz="1400" dirty="0"/>
          </a:p>
        </p:txBody>
      </p:sp>
      <p:sp>
        <p:nvSpPr>
          <p:cNvPr id="13" name="Text 10"/>
          <p:cNvSpPr txBox="1"/>
          <p:nvPr/>
        </p:nvSpPr>
        <p:spPr>
          <a:xfrm>
            <a:off x="6299200" y="4762500"/>
            <a:ext cx="4889500" cy="571500"/>
          </a:xfrm>
          <a:prstGeom prst="rect">
            <a:avLst/>
          </a:prstGeom>
          <a:noFill/>
          <a:ln/>
        </p:spPr>
        <p:txBody>
          <a:bodyPr wrap="square" lIns="0" tIns="0" rIns="0" bIns="0" rtlCol="0" anchor="t"/>
          <a:lstStyle/>
          <a:p>
            <a:pPr indent="0" marL="0">
              <a:buNone/>
            </a:pPr>
            <a:r>
              <a:rPr lang="en-US" sz="1200" dirty="0">
                <a:solidFill>
                  <a:srgbClr val="1F2A37"/>
                </a:solidFill>
                <a:latin typeface="Calibri" pitchFamily="34" charset="0"/>
                <a:ea typeface="Calibri" pitchFamily="34" charset="-122"/>
                <a:cs typeface="Calibri" pitchFamily="34" charset="-120"/>
              </a:rPr>
              <a:t>not causal clinical explanations</a:t>
            </a:r>
            <a:endParaRPr lang="en-US" sz="1200" dirty="0"/>
          </a:p>
        </p:txBody>
      </p:sp>
      <p:sp>
        <p:nvSpPr>
          <p:cNvPr id="14" name="Text 11"/>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Backup · Grad-CAM (L8), hand-written attention (L6–L7)</a:t>
            </a:r>
            <a:endParaRPr lang="en-US" sz="1200" dirty="0"/>
          </a:p>
        </p:txBody>
      </p:sp>
      <p:sp>
        <p:nvSpPr>
          <p:cNvPr id="15" name="Text 12"/>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2800" y="584200"/>
            <a:ext cx="10566400" cy="228600"/>
          </a:xfrm>
          <a:prstGeom prst="rect">
            <a:avLst/>
          </a:prstGeom>
          <a:noFill/>
          <a:ln/>
        </p:spPr>
        <p:txBody>
          <a:bodyPr wrap="square" lIns="0" tIns="0" rIns="0" bIns="0" rtlCol="0" anchor="t"/>
          <a:lstStyle/>
          <a:p>
            <a:pPr indent="0" marL="0">
              <a:buNone/>
            </a:pPr>
            <a:r>
              <a:rPr lang="en-US" sz="1200" b="1" spc="300" kern="0" dirty="0">
                <a:solidFill>
                  <a:srgbClr val="2F6F73"/>
                </a:solidFill>
                <a:latin typeface="Calibri" pitchFamily="34" charset="0"/>
                <a:ea typeface="Calibri" pitchFamily="34" charset="-122"/>
                <a:cs typeface="Calibri" pitchFamily="34" charset="-120"/>
              </a:rPr>
              <a:t>BACKUP · QUESTIONS</a:t>
            </a:r>
            <a:endParaRPr lang="en-US" sz="1200" dirty="0"/>
          </a:p>
        </p:txBody>
      </p:sp>
      <p:sp>
        <p:nvSpPr>
          <p:cNvPr id="3" name="Text 1"/>
          <p:cNvSpPr txBox="1"/>
          <p:nvPr/>
        </p:nvSpPr>
        <p:spPr>
          <a:xfrm>
            <a:off x="812800" y="838200"/>
            <a:ext cx="10566400" cy="508000"/>
          </a:xfrm>
          <a:prstGeom prst="rect">
            <a:avLst/>
          </a:prstGeom>
          <a:noFill/>
          <a:ln/>
        </p:spPr>
        <p:txBody>
          <a:bodyPr wrap="square" lIns="0" tIns="0" rIns="0" bIns="0" rtlCol="0" anchor="t"/>
          <a:lstStyle/>
          <a:p>
            <a:pPr indent="0" marL="0">
              <a:buNone/>
            </a:pPr>
            <a:r>
              <a:rPr lang="en-US" sz="2800" b="1" dirty="0">
                <a:solidFill>
                  <a:srgbClr val="1F3A5F"/>
                </a:solidFill>
                <a:latin typeface="Cambria" pitchFamily="34" charset="0"/>
                <a:ea typeface="Cambria" pitchFamily="34" charset="-122"/>
                <a:cs typeface="Cambria" pitchFamily="34" charset="-120"/>
              </a:rPr>
              <a:t>Likely questions, short answers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10566400" cy="914400"/>
        </p:xfrm>
        <a:graphic>
          <a:graphicData uri="http://schemas.openxmlformats.org/drawingml/2006/table">
            <a:tbl>
              <a:tblPr/>
              <a:tblGrid>
                <a:gridCol w="3381248"/>
                <a:gridCol w="7185152"/>
              </a:tblGrid>
              <a:tr h="5080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Short answer</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1F3A5F"/>
                    </a:solidFill>
                  </a:tcPr>
                </a:tc>
              </a:tr>
              <a:tr h="5080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Is the screen rule arbitrary?</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Fixed before results; margins 0.01 and 0.03 add no screen cell</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r>
              <a:tr h="5080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Why CNN-BiLSTM as primary?</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Chosen on validation (0.0001 ahead); STTC-chest6 passes in all 5 approaches</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r>
              <a:tr h="5080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Any data leakage?</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Official patient-level folds; scaler, thresholds and temperature from train/val only</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r>
              <a:tr h="5080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Why is external AUROC higher?</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Stricter external labels and a different case mix; with LVHV it falls to the internal level</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r>
              <a:tr h="5080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Why did B1 fail?</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Raw time samples are not aligned across records; shift-invariant B2 reaches 0.863</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FFFFF"/>
                    </a:solidFill>
                  </a:tcPr>
                </a:tc>
              </a:tr>
              <a:tr h="508000">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Why 100 Hz?</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c>
                  <a:txBody>
                    <a:bodyPr/>
                    <a:lstStyle/>
                    <a:p>
                      <a:pPr indent="0" marL="0">
                        <a:buNone/>
                      </a:pPr>
                      <a:r>
                        <a:rPr lang="en-US" sz="1300" dirty="0">
                          <a:solidFill>
                            <a:srgbClr val="1F2A37"/>
                          </a:solidFill>
                          <a:latin typeface="Calibri" pitchFamily="34" charset="0"/>
                          <a:ea typeface="Calibri" pitchFamily="34" charset="-122"/>
                          <a:cs typeface="Calibri" pitchFamily="34" charset="-120"/>
                        </a:rPr>
                        <a:t>PTB-XL benchmark setting; keeps 100+ runs feasible on one GPU</a:t>
                      </a:r>
                      <a:endParaRPr lang="en-US" sz="1300" dirty="0">
                        <a:latin typeface="Calibri" charset="0"/>
                        <a:ea typeface="Calibri" charset="0"/>
                        <a:cs typeface="Calibri" charset="0"/>
                      </a:endParaRPr>
                    </a:p>
                  </a:txBody>
                  <a:tcPr marL="91440" marR="91440" marT="91440" marB="91440" anchor="ctr">
                    <a:lnL w="6350" cap="flat" cmpd="sng" algn="ctr">
                      <a:solidFill>
                        <a:srgbClr val="C3CAD3"/>
                      </a:solidFill>
                      <a:prstDash val="solid"/>
                      <a:round/>
                      <a:headEnd type="none" w="med" len="med"/>
                      <a:tailEnd type="none" w="med" len="med"/>
                    </a:lnL>
                    <a:lnR w="6350" cap="flat" cmpd="sng" algn="ctr">
                      <a:solidFill>
                        <a:srgbClr val="C3CAD3"/>
                      </a:solidFill>
                      <a:prstDash val="solid"/>
                      <a:round/>
                      <a:headEnd type="none" w="med" len="med"/>
                      <a:tailEnd type="none" w="med" len="med"/>
                    </a:lnR>
                    <a:lnT w="6350" cap="flat" cmpd="sng" algn="ctr">
                      <a:solidFill>
                        <a:srgbClr val="C3CAD3"/>
                      </a:solidFill>
                      <a:prstDash val="solid"/>
                      <a:round/>
                      <a:headEnd type="none" w="med" len="med"/>
                      <a:tailEnd type="none" w="med" len="med"/>
                    </a:lnT>
                    <a:lnB w="6350" cap="flat" cmpd="sng" algn="ctr">
                      <a:solidFill>
                        <a:srgbClr val="C3CAD3"/>
                      </a:solidFill>
                      <a:prstDash val="solid"/>
                      <a:round/>
                      <a:headEnd type="none" w="med" len="med"/>
                      <a:tailEnd type="none" w="med" len="med"/>
                    </a:lnB>
                    <a:solidFill>
                      <a:srgbClr val="F4F5F7"/>
                    </a:solidFill>
                  </a:tcPr>
                </a:tc>
              </a:tr>
            </a:tbl>
          </a:graphicData>
        </a:graphic>
      </p:graphicFrame>
      <p:sp>
        <p:nvSpPr>
          <p:cNvPr id="5" name="Text 2"/>
          <p:cNvSpPr txBox="1"/>
          <p:nvPr/>
        </p:nvSpPr>
        <p:spPr>
          <a:xfrm>
            <a:off x="812800" y="6286500"/>
            <a:ext cx="8890000" cy="21590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Backup · full numbers in the report</a:t>
            </a:r>
            <a:endParaRPr lang="en-US" sz="1200" dirty="0"/>
          </a:p>
        </p:txBody>
      </p:sp>
      <p:sp>
        <p:nvSpPr>
          <p:cNvPr id="6" name="Text 3"/>
          <p:cNvSpPr txBox="1"/>
          <p:nvPr/>
        </p:nvSpPr>
        <p:spPr>
          <a:xfrm>
            <a:off x="10617200" y="6286500"/>
            <a:ext cx="762000" cy="215900"/>
          </a:xfrm>
          <a:prstGeom prst="rect">
            <a:avLst/>
          </a:prstGeom>
          <a:noFill/>
          <a:ln/>
        </p:spPr>
        <p:txBody>
          <a:bodyPr wrap="square" lIns="0" tIns="0" rIns="0" bIns="0" rtlCol="0" anchor="t"/>
          <a:lstStyle/>
          <a:p>
            <a:pPr algn="r" indent="0" marL="0">
              <a:buNone/>
            </a:pPr>
            <a:r>
              <a:rPr lang="en-US" sz="1200" dirty="0">
                <a:solidFill>
                  <a:srgbClr val="5B6675"/>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Twelve to One – BS6204 Presentation</dc:title>
  <dc:subject>PptxGenJS Presentation</dc:subject>
  <dc:creator>[Author names]</dc:creator>
  <cp:lastModifiedBy>[Author names]</cp:lastModifiedBy>
  <cp:revision>1</cp:revision>
  <dcterms:created xsi:type="dcterms:W3CDTF">2026-10-08T15:17:27Z</dcterms:created>
  <dcterms:modified xsi:type="dcterms:W3CDTF">2026-10-08T15:17:27Z</dcterms:modified>
</cp:coreProperties>
</file>